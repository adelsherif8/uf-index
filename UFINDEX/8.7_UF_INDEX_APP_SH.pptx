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936" y="-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294967295">
            <a:extLst>
              <a:ext uri="{FF2B5EF4-FFF2-40B4-BE49-F238E27FC236}">
                <a16:creationId xmlns="" xmlns:a16="http://schemas.microsoft.com/office/drawing/2014/main" id="{A00AE7DD-33E7-4EBC-B6E8-03C4624AF6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652FA06-D46E-4CE0-B25B-0D27EBC537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209550"/>
          </a:xfrm>
          <a:prstGeom prst="rect">
            <a:avLst/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95E4C194-EFC3-47E9-B211-B90EF7E3997A}"/>
              </a:ext>
            </a:extLst>
          </p:cNvPr>
          <p:cNvSpPr>
            <a:spLocks noGrp="1"/>
          </p:cNvSpPr>
          <p:nvPr/>
        </p:nvSpPr>
        <p:spPr>
          <a:xfrm>
            <a:off x="0" y="209550"/>
            <a:ext cx="9144000" cy="57150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3E7012D-48C4-413E-8763-9F240BD05EB6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EADFD4"/>
                </a:solidFill>
              </a:defRPr>
            </a:pPr>
            <a:r>
              <a:rPr sz="975" b="0">
                <a:solidFill>
                  <a:srgbClr val="EADFD4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C9F2F8CB-EE45-4284-A73F-5DB37060A32B}"/>
              </a:ext>
            </a:extLst>
          </p:cNvPr>
          <p:cNvSpPr>
            <a:spLocks noGrp="1"/>
          </p:cNvSpPr>
          <p:nvPr/>
        </p:nvSpPr>
        <p:spPr>
          <a:xfrm>
            <a:off x="533400" y="742950"/>
            <a:ext cx="619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5EA"/>
                </a:solidFill>
              </a:defRPr>
            </a:pPr>
            <a:r>
              <a:rPr sz="4050" b="1">
                <a:solidFill>
                  <a:srgbClr val="FFF5EA"/>
                </a:solidFill>
              </a:rPr>
              <a:t>UF Index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BE2B7DE-0FE5-47A4-BBEC-0F0F64C542B1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628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D18A"/>
                </a:solidFill>
              </a:defRPr>
            </a:pPr>
            <a:r>
              <a:rPr sz="3150" b="1">
                <a:solidFill>
                  <a:srgbClr val="FFD18A"/>
                </a:solidFill>
              </a:rPr>
              <a:t>Mobile App Proposal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64D919E-8A9B-4DD4-B786-B70485644CA7}"/>
              </a:ext>
            </a:extLst>
          </p:cNvPr>
          <p:cNvSpPr>
            <a:spLocks noGrp="1"/>
          </p:cNvSpPr>
          <p:nvPr/>
        </p:nvSpPr>
        <p:spPr>
          <a:xfrm>
            <a:off x="357158" y="2357436"/>
            <a:ext cx="657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FFF2E6"/>
                </a:solidFill>
              </a:defRPr>
            </a:pPr>
            <a:r>
              <a:rPr lang="en-US" sz="1650" dirty="0"/>
              <a:t>Transforming the UF Index into a Personalized Wellness Companion </a:t>
            </a:r>
            <a:r>
              <a:rPr sz="1650" b="0">
                <a:solidFill>
                  <a:srgbClr val="FFF2E6"/>
                </a:solidFill>
              </a:rPr>
              <a:t>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0288A350-7FA7-49E8-AF96-2F5CF0F75151}"/>
              </a:ext>
            </a:extLst>
          </p:cNvPr>
          <p:cNvSpPr>
            <a:spLocks noGrp="1"/>
          </p:cNvSpPr>
          <p:nvPr/>
        </p:nvSpPr>
        <p:spPr>
          <a:xfrm>
            <a:off x="6686550" y="809625"/>
            <a:ext cx="1676400" cy="1676400"/>
          </a:xfrm>
          <a:prstGeom prst="roundRect">
            <a:avLst>
              <a:gd name="adj" fmla="val 4545"/>
            </a:avLst>
          </a:prstGeom>
          <a:solidFill>
            <a:srgbClr val="FFF5EA"/>
          </a:solidFill>
          <a:ln w="0">
            <a:solidFill>
              <a:srgbClr val="FFF5EA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="" xmlns:a16="http://schemas.microsoft.com/office/drawing/2014/main" id="{CEBB8C55-75FA-49B9-8F86-1C8C64ACC08A}"/>
              </a:ext>
            </a:extLst>
          </p:cNvPr>
          <p:cNvSpPr>
            <a:spLocks noGrp="1"/>
          </p:cNvSpPr>
          <p:nvPr/>
        </p:nvSpPr>
        <p:spPr>
          <a:xfrm>
            <a:off x="6981825" y="1104900"/>
            <a:ext cx="1085850" cy="1085850"/>
          </a:xfrm>
          <a:prstGeom prst="roundRect">
            <a:avLst>
              <a:gd name="adj" fmla="val 7018"/>
            </a:avLst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11" name="Rounded Rectangle 10">
            <a:extLst>
              <a:ext uri="{FF2B5EF4-FFF2-40B4-BE49-F238E27FC236}">
                <a16:creationId xmlns="" xmlns:a16="http://schemas.microsoft.com/office/drawing/2014/main" id="{4FBB3D41-2B4A-4284-824A-D9B40F07F425}"/>
              </a:ext>
            </a:extLst>
          </p:cNvPr>
          <p:cNvSpPr>
            <a:spLocks noGrp="1"/>
          </p:cNvSpPr>
          <p:nvPr/>
        </p:nvSpPr>
        <p:spPr>
          <a:xfrm>
            <a:off x="7248525" y="137160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46B68"/>
          </a:solidFill>
          <a:ln w="0">
            <a:solidFill>
              <a:srgbClr val="146B68"/>
            </a:solidFill>
            <a:prstDash val="solid"/>
          </a:ln>
        </p:spPr>
      </p:sp>
    </p:spTree>
    <p:extLst>
      <p:ext uri="{BB962C8B-B14F-4D97-AF65-F5344CB8AC3E}">
        <p14:creationId xmlns="" xmlns:p14="http://schemas.microsoft.com/office/powerpoint/2010/main" val="143828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4294967295">
            <a:extLst>
              <a:ext uri="{FF2B5EF4-FFF2-40B4-BE49-F238E27FC236}">
                <a16:creationId xmlns="" xmlns:a16="http://schemas.microsoft.com/office/drawing/2014/main" id="{EF7212FA-FC42-49E4-AA1D-CBFC26357C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FACC5A5-D256-4CA5-BB37-50F7FE74D5D1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9144000" cy="47625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970BCD1-824B-42FC-ACBC-8C94245FC961}"/>
              </a:ext>
            </a:extLst>
          </p:cNvPr>
          <p:cNvSpPr>
            <a:spLocks noGrp="1"/>
          </p:cNvSpPr>
          <p:nvPr/>
        </p:nvSpPr>
        <p:spPr>
          <a:xfrm>
            <a:off x="7905750" y="219075"/>
            <a:ext cx="1238250" cy="4924425"/>
          </a:xfrm>
          <a:prstGeom prst="rect">
            <a:avLst/>
          </a:prstGeom>
          <a:solidFill>
            <a:srgbClr val="EFE7DC"/>
          </a:solidFill>
          <a:ln w="0">
            <a:solidFill>
              <a:srgbClr val="EFE7D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4A6AB6B-CAB8-4DAC-A47E-37A34E01A7F6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9A8F84"/>
                </a:solidFill>
              </a:defRPr>
            </a:pPr>
            <a:r>
              <a:rPr sz="975" b="0">
                <a:solidFill>
                  <a:srgbClr val="9A8F84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6FF4390-1835-4B49-89DC-79CB5A3C48F7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681B22"/>
                </a:solidFill>
              </a:defRPr>
            </a:pPr>
            <a:r>
              <a:rPr sz="2400" b="1">
                <a:solidFill>
                  <a:srgbClr val="681B22"/>
                </a:solidFill>
              </a:rPr>
              <a:t>What is UF Index?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15B85A8-33BB-4F5B-AF36-A05F027F1269}"/>
              </a:ext>
            </a:extLst>
          </p:cNvPr>
          <p:cNvSpPr>
            <a:spLocks noGrp="1"/>
          </p:cNvSpPr>
          <p:nvPr/>
        </p:nvSpPr>
        <p:spPr>
          <a:xfrm>
            <a:off x="571472" y="1285866"/>
            <a:ext cx="752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412"/>
                </a:solidFill>
              </a:defRPr>
            </a:pPr>
            <a:r>
              <a:rPr lang="en-US" dirty="0"/>
              <a:t>UF Index  is an innovative health and wellness assessment tool that evaluates the connection between the </a:t>
            </a:r>
            <a:r>
              <a:rPr lang="en-US" b="1" dirty="0"/>
              <a:t>mind and body</a:t>
            </a:r>
            <a:r>
              <a:rPr lang="en-US" dirty="0"/>
              <a:t>. It helps individuals understand their overall lifestyle and energy levels, encouraging long-term healthy habits.</a:t>
            </a:r>
            <a:endParaRPr sz="1800" b="1">
              <a:solidFill>
                <a:srgbClr val="171412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="" xmlns:a16="http://schemas.microsoft.com/office/drawing/2014/main" id="{BC2AC030-4516-43AF-BB85-D79E200EB242}"/>
              </a:ext>
            </a:extLst>
          </p:cNvPr>
          <p:cNvSpPr>
            <a:spLocks noGrp="1"/>
          </p:cNvSpPr>
          <p:nvPr/>
        </p:nvSpPr>
        <p:spPr>
          <a:xfrm>
            <a:off x="876300" y="2428875"/>
            <a:ext cx="1714500" cy="781050"/>
          </a:xfrm>
          <a:prstGeom prst="roundRect">
            <a:avLst>
              <a:gd name="adj" fmla="val 9756"/>
            </a:avLst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3327A66-7925-4C0D-A740-A5120A171FF1}"/>
              </a:ext>
            </a:extLst>
          </p:cNvPr>
          <p:cNvSpPr>
            <a:spLocks noGrp="1"/>
          </p:cNvSpPr>
          <p:nvPr/>
        </p:nvSpPr>
        <p:spPr>
          <a:xfrm>
            <a:off x="1009650" y="2552700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FB8254B-0027-4CD6-800E-8A5A26CCF0EF}"/>
              </a:ext>
            </a:extLst>
          </p:cNvPr>
          <p:cNvSpPr>
            <a:spLocks noGrp="1"/>
          </p:cNvSpPr>
          <p:nvPr/>
        </p:nvSpPr>
        <p:spPr>
          <a:xfrm>
            <a:off x="1009650" y="2895600"/>
            <a:ext cx="1447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FFF8F0"/>
                </a:solidFill>
              </a:defRPr>
            </a:pPr>
            <a:r>
              <a:rPr sz="863" b="0">
                <a:solidFill>
                  <a:srgbClr val="FFF8F0"/>
                </a:solidFill>
              </a:rPr>
              <a:t>Body and lifestyle inputs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="" xmlns:a16="http://schemas.microsoft.com/office/drawing/2014/main" id="{D9EA0734-C7FF-4A68-9249-ACE8D9B21A2D}"/>
              </a:ext>
            </a:extLst>
          </p:cNvPr>
          <p:cNvSpPr>
            <a:spLocks noGrp="1"/>
          </p:cNvSpPr>
          <p:nvPr/>
        </p:nvSpPr>
        <p:spPr>
          <a:xfrm>
            <a:off x="2876550" y="2428875"/>
            <a:ext cx="1714500" cy="781050"/>
          </a:xfrm>
          <a:prstGeom prst="roundRect">
            <a:avLst>
              <a:gd name="adj" fmla="val 9756"/>
            </a:avLst>
          </a:prstGeom>
          <a:solidFill>
            <a:srgbClr val="146B68"/>
          </a:solidFill>
          <a:ln w="0">
            <a:solidFill>
              <a:srgbClr val="146B6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8ECF120F-51AE-4FC4-865C-099C1DA998A9}"/>
              </a:ext>
            </a:extLst>
          </p:cNvPr>
          <p:cNvSpPr>
            <a:spLocks noGrp="1"/>
          </p:cNvSpPr>
          <p:nvPr/>
        </p:nvSpPr>
        <p:spPr>
          <a:xfrm>
            <a:off x="3009900" y="2552700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D6672C2C-7992-4757-A614-731E5361A7FF}"/>
              </a:ext>
            </a:extLst>
          </p:cNvPr>
          <p:cNvSpPr>
            <a:spLocks noGrp="1"/>
          </p:cNvSpPr>
          <p:nvPr/>
        </p:nvSpPr>
        <p:spPr>
          <a:xfrm>
            <a:off x="3009900" y="2895600"/>
            <a:ext cx="1447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FFF8F0"/>
                </a:solidFill>
              </a:defRPr>
            </a:pPr>
            <a:r>
              <a:rPr sz="863" b="0">
                <a:solidFill>
                  <a:srgbClr val="FFF8F0"/>
                </a:solidFill>
              </a:rPr>
              <a:t>Mind-body wellness score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="" xmlns:a16="http://schemas.microsoft.com/office/drawing/2014/main" id="{40EEE190-87F8-4A79-A4E5-80398D2D5D30}"/>
              </a:ext>
            </a:extLst>
          </p:cNvPr>
          <p:cNvSpPr>
            <a:spLocks noGrp="1"/>
          </p:cNvSpPr>
          <p:nvPr/>
        </p:nvSpPr>
        <p:spPr>
          <a:xfrm>
            <a:off x="4876800" y="2428875"/>
            <a:ext cx="1714500" cy="781050"/>
          </a:xfrm>
          <a:prstGeom prst="roundRect">
            <a:avLst>
              <a:gd name="adj" fmla="val 9756"/>
            </a:avLst>
          </a:prstGeom>
          <a:solidFill>
            <a:srgbClr val="245F8F"/>
          </a:solidFill>
          <a:ln w="0">
            <a:solidFill>
              <a:srgbClr val="245F8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24081EA-031B-497E-80B9-EACF9ECB46C0}"/>
              </a:ext>
            </a:extLst>
          </p:cNvPr>
          <p:cNvSpPr>
            <a:spLocks noGrp="1"/>
          </p:cNvSpPr>
          <p:nvPr/>
        </p:nvSpPr>
        <p:spPr>
          <a:xfrm>
            <a:off x="5010150" y="2552700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1E24DAC2-8F3F-4CC0-8FC3-79ADEB198908}"/>
              </a:ext>
            </a:extLst>
          </p:cNvPr>
          <p:cNvSpPr>
            <a:spLocks noGrp="1"/>
          </p:cNvSpPr>
          <p:nvPr/>
        </p:nvSpPr>
        <p:spPr>
          <a:xfrm>
            <a:off x="5010150" y="2895600"/>
            <a:ext cx="1447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FFF8F0"/>
                </a:solidFill>
              </a:defRPr>
            </a:pPr>
            <a:r>
              <a:rPr sz="863" b="0">
                <a:solidFill>
                  <a:srgbClr val="FFF8F0"/>
                </a:solidFill>
              </a:rPr>
              <a:t>Personalized insights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="" xmlns:a16="http://schemas.microsoft.com/office/drawing/2014/main" id="{A0F341D4-F09D-4B28-80CF-36FC1FED9CBB}"/>
              </a:ext>
            </a:extLst>
          </p:cNvPr>
          <p:cNvSpPr>
            <a:spLocks noGrp="1"/>
          </p:cNvSpPr>
          <p:nvPr/>
        </p:nvSpPr>
        <p:spPr>
          <a:xfrm>
            <a:off x="6877050" y="2428875"/>
            <a:ext cx="1714500" cy="781050"/>
          </a:xfrm>
          <a:prstGeom prst="roundRect">
            <a:avLst>
              <a:gd name="adj" fmla="val 9756"/>
            </a:avLst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A87C94BC-D376-474D-ADCB-7A3504A9C66D}"/>
              </a:ext>
            </a:extLst>
          </p:cNvPr>
          <p:cNvSpPr>
            <a:spLocks noGrp="1"/>
          </p:cNvSpPr>
          <p:nvPr/>
        </p:nvSpPr>
        <p:spPr>
          <a:xfrm>
            <a:off x="7010400" y="2552700"/>
            <a:ext cx="1447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FEE9145-31F8-4F07-AD91-67CBB4AD61A7}"/>
              </a:ext>
            </a:extLst>
          </p:cNvPr>
          <p:cNvSpPr>
            <a:spLocks noGrp="1"/>
          </p:cNvSpPr>
          <p:nvPr/>
        </p:nvSpPr>
        <p:spPr>
          <a:xfrm>
            <a:off x="7010400" y="2895600"/>
            <a:ext cx="1447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FFF8F0"/>
                </a:solidFill>
              </a:defRPr>
            </a:pPr>
            <a:r>
              <a:rPr sz="863" b="0">
                <a:solidFill>
                  <a:srgbClr val="FFF8F0"/>
                </a:solidFill>
              </a:rPr>
              <a:t>Coach or program pathway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="" xmlns:a16="http://schemas.microsoft.com/office/drawing/2014/main" id="{AEB59710-A3DA-4C4A-897B-6ADE2C0B10C7}"/>
              </a:ext>
            </a:extLst>
          </p:cNvPr>
          <p:cNvSpPr>
            <a:spLocks noGrp="1"/>
          </p:cNvSpPr>
          <p:nvPr/>
        </p:nvSpPr>
        <p:spPr>
          <a:xfrm>
            <a:off x="1219201" y="3638550"/>
            <a:ext cx="2995609" cy="10763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6496E0A3-11DD-4A45-921A-FE5D19E8CCD8}"/>
              </a:ext>
            </a:extLst>
          </p:cNvPr>
          <p:cNvSpPr>
            <a:spLocks noGrp="1"/>
          </p:cNvSpPr>
          <p:nvPr/>
        </p:nvSpPr>
        <p:spPr>
          <a:xfrm>
            <a:off x="1219201" y="3638550"/>
            <a:ext cx="66651" cy="1076340"/>
          </a:xfrm>
          <a:prstGeom prst="rect">
            <a:avLst/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CB16D318-1B59-4704-9B2F-900599493A0F}"/>
              </a:ext>
            </a:extLst>
          </p:cNvPr>
          <p:cNvSpPr>
            <a:spLocks noGrp="1"/>
          </p:cNvSpPr>
          <p:nvPr/>
        </p:nvSpPr>
        <p:spPr>
          <a:xfrm>
            <a:off x="1409700" y="3790950"/>
            <a:ext cx="2676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UF Index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86097C0D-6542-42D8-845E-D9FEB48EAF4D}"/>
              </a:ext>
            </a:extLst>
          </p:cNvPr>
          <p:cNvSpPr>
            <a:spLocks noGrp="1"/>
          </p:cNvSpPr>
          <p:nvPr/>
        </p:nvSpPr>
        <p:spPr>
          <a:xfrm>
            <a:off x="1409700" y="4114800"/>
            <a:ext cx="26574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Core assessment that creates the first wellness score and basic insight layer.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="" xmlns:a16="http://schemas.microsoft.com/office/drawing/2014/main" id="{33CAB891-32C9-49A5-AAC0-4F089D2A4107}"/>
              </a:ext>
            </a:extLst>
          </p:cNvPr>
          <p:cNvSpPr>
            <a:spLocks noGrp="1"/>
          </p:cNvSpPr>
          <p:nvPr/>
        </p:nvSpPr>
        <p:spPr>
          <a:xfrm>
            <a:off x="4933950" y="3638550"/>
            <a:ext cx="3067074" cy="10763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8CE3E9EC-2336-47B7-8F03-B9D60B445ADB}"/>
              </a:ext>
            </a:extLst>
          </p:cNvPr>
          <p:cNvSpPr>
            <a:spLocks noGrp="1"/>
          </p:cNvSpPr>
          <p:nvPr/>
        </p:nvSpPr>
        <p:spPr>
          <a:xfrm>
            <a:off x="4933950" y="3638550"/>
            <a:ext cx="66678" cy="1076340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7DB3420E-8A64-4F9E-A430-E7135DA7FAF5}"/>
              </a:ext>
            </a:extLst>
          </p:cNvPr>
          <p:cNvSpPr>
            <a:spLocks noGrp="1"/>
          </p:cNvSpPr>
          <p:nvPr/>
        </p:nvSpPr>
        <p:spPr>
          <a:xfrm>
            <a:off x="5124450" y="3790950"/>
            <a:ext cx="2676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UF Index Plus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4DB11ABB-2984-43DD-9E83-EF8DDAFDB434}"/>
              </a:ext>
            </a:extLst>
          </p:cNvPr>
          <p:cNvSpPr>
            <a:spLocks noGrp="1"/>
          </p:cNvSpPr>
          <p:nvPr/>
        </p:nvSpPr>
        <p:spPr>
          <a:xfrm>
            <a:off x="5124450" y="4114800"/>
            <a:ext cx="26574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Premium layer with deeper validated assessments such as WHO-5, PSS, PSQI, and WPAI.</a:t>
            </a:r>
          </a:p>
        </p:txBody>
      </p:sp>
    </p:spTree>
    <p:extLst>
      <p:ext uri="{BB962C8B-B14F-4D97-AF65-F5344CB8AC3E}">
        <p14:creationId xmlns="" xmlns:p14="http://schemas.microsoft.com/office/powerpoint/2010/main" val="1989849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4294967295">
            <a:extLst>
              <a:ext uri="{FF2B5EF4-FFF2-40B4-BE49-F238E27FC236}">
                <a16:creationId xmlns="" xmlns:a16="http://schemas.microsoft.com/office/drawing/2014/main" id="{0E8AC71D-10FD-4C76-9204-25F7ADAB3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6659FFD-AE91-4866-9AAC-3050DFA45F4F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9144000" cy="47625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D2880581-8E4F-4367-8E99-843573D3A4FF}"/>
              </a:ext>
            </a:extLst>
          </p:cNvPr>
          <p:cNvSpPr>
            <a:spLocks noGrp="1"/>
          </p:cNvSpPr>
          <p:nvPr/>
        </p:nvSpPr>
        <p:spPr>
          <a:xfrm>
            <a:off x="7905750" y="219075"/>
            <a:ext cx="1238250" cy="4924425"/>
          </a:xfrm>
          <a:prstGeom prst="rect">
            <a:avLst/>
          </a:prstGeom>
          <a:solidFill>
            <a:srgbClr val="EFE7DC"/>
          </a:solidFill>
          <a:ln w="0">
            <a:solidFill>
              <a:srgbClr val="EFE7D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537C110-C063-4B81-8542-C85BDD521AEE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9A8F84"/>
                </a:solidFill>
              </a:defRPr>
            </a:pPr>
            <a:r>
              <a:rPr sz="975" b="0">
                <a:solidFill>
                  <a:srgbClr val="9A8F84"/>
                </a:solidFill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8059134-3613-4D07-8D78-BF6294CAE93B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681B22"/>
                </a:solidFill>
              </a:defRPr>
            </a:pPr>
            <a:r>
              <a:rPr sz="2400" b="1">
                <a:solidFill>
                  <a:srgbClr val="681B22"/>
                </a:solidFill>
              </a:rPr>
              <a:t>Problem statement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15CAC23-BE75-40B4-9257-1018970FAD2A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5650"/>
                </a:solidFill>
              </a:defRPr>
            </a:pPr>
            <a:r>
              <a:rPr sz="1125" b="0">
                <a:solidFill>
                  <a:srgbClr val="5D5650"/>
                </a:solidFill>
              </a:rPr>
              <a:t>The product should solve a real user and business problem, not just digitize a form.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="" xmlns:a16="http://schemas.microsoft.com/office/drawing/2014/main" id="{E64860B6-9BDD-4A73-A305-5BE3A553CB0E}"/>
              </a:ext>
            </a:extLst>
          </p:cNvPr>
          <p:cNvSpPr>
            <a:spLocks noGrp="1"/>
          </p:cNvSpPr>
          <p:nvPr/>
        </p:nvSpPr>
        <p:spPr>
          <a:xfrm>
            <a:off x="590550" y="1314450"/>
            <a:ext cx="2381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8A15E1F-4218-4F97-920D-C43BDC015B55}"/>
              </a:ext>
            </a:extLst>
          </p:cNvPr>
          <p:cNvSpPr>
            <a:spLocks noGrp="1"/>
          </p:cNvSpPr>
          <p:nvPr/>
        </p:nvSpPr>
        <p:spPr>
          <a:xfrm>
            <a:off x="590550" y="1314450"/>
            <a:ext cx="66675" cy="1257300"/>
          </a:xfrm>
          <a:prstGeom prst="rect">
            <a:avLst/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D98B9C3-E3D7-4D92-AD63-719C2037E7CF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Users lack clarity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6CAF1E8-7F30-4AAF-BE29-9A4A7FD64850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2038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People may track activity, weight, sleep, stress, or mood separately, but they do not always understand what those signals mean together.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="" xmlns:a16="http://schemas.microsoft.com/office/drawing/2014/main" id="{A602D3E5-8AC3-4B4F-820D-8AF5C3A7FB58}"/>
              </a:ext>
            </a:extLst>
          </p:cNvPr>
          <p:cNvSpPr>
            <a:spLocks noGrp="1"/>
          </p:cNvSpPr>
          <p:nvPr/>
        </p:nvSpPr>
        <p:spPr>
          <a:xfrm>
            <a:off x="3390900" y="1314450"/>
            <a:ext cx="2381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2C1365-3A18-4826-9DAA-3A80CA7F6B6B}"/>
              </a:ext>
            </a:extLst>
          </p:cNvPr>
          <p:cNvSpPr>
            <a:spLocks noGrp="1"/>
          </p:cNvSpPr>
          <p:nvPr/>
        </p:nvSpPr>
        <p:spPr>
          <a:xfrm>
            <a:off x="3390900" y="1314450"/>
            <a:ext cx="66675" cy="1257300"/>
          </a:xfrm>
          <a:prstGeom prst="rect">
            <a:avLst/>
          </a:prstGeom>
          <a:solidFill>
            <a:srgbClr val="245F8F"/>
          </a:solidFill>
          <a:ln w="0">
            <a:solidFill>
              <a:srgbClr val="245F8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04B12D14-E98B-4535-B909-1BC04B203D59}"/>
              </a:ext>
            </a:extLst>
          </p:cNvPr>
          <p:cNvSpPr>
            <a:spLocks noGrp="1"/>
          </p:cNvSpPr>
          <p:nvPr/>
        </p:nvSpPr>
        <p:spPr>
          <a:xfrm>
            <a:off x="3581400" y="14668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Assessments feel heavy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642A212F-1021-455E-8726-45942BA0F46B}"/>
              </a:ext>
            </a:extLst>
          </p:cNvPr>
          <p:cNvSpPr>
            <a:spLocks noGrp="1"/>
          </p:cNvSpPr>
          <p:nvPr/>
        </p:nvSpPr>
        <p:spPr>
          <a:xfrm>
            <a:off x="3581400" y="1790700"/>
            <a:ext cx="2038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Wellness assessments can feel clinical, long, or disconnected from immediate action if the experience is not designed well.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="" xmlns:a16="http://schemas.microsoft.com/office/drawing/2014/main" id="{F1304436-BBC9-4817-B62C-2245420A7F60}"/>
              </a:ext>
            </a:extLst>
          </p:cNvPr>
          <p:cNvSpPr>
            <a:spLocks noGrp="1"/>
          </p:cNvSpPr>
          <p:nvPr/>
        </p:nvSpPr>
        <p:spPr>
          <a:xfrm>
            <a:off x="6191250" y="1314450"/>
            <a:ext cx="2381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4DE24C08-ACB2-4255-8244-F554436FF942}"/>
              </a:ext>
            </a:extLst>
          </p:cNvPr>
          <p:cNvSpPr>
            <a:spLocks noGrp="1"/>
          </p:cNvSpPr>
          <p:nvPr/>
        </p:nvSpPr>
        <p:spPr>
          <a:xfrm>
            <a:off x="6191250" y="1314450"/>
            <a:ext cx="66675" cy="1257300"/>
          </a:xfrm>
          <a:prstGeom prst="rect">
            <a:avLst/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D0885D4E-B670-43EF-84C6-7BB364DD8F8B}"/>
              </a:ext>
            </a:extLst>
          </p:cNvPr>
          <p:cNvSpPr>
            <a:spLocks noGrp="1"/>
          </p:cNvSpPr>
          <p:nvPr/>
        </p:nvSpPr>
        <p:spPr>
          <a:xfrm>
            <a:off x="6381750" y="14668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Coaching needs context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B622FEF4-17DB-4A5E-BC85-2E7A3320F2F1}"/>
              </a:ext>
            </a:extLst>
          </p:cNvPr>
          <p:cNvSpPr>
            <a:spLocks noGrp="1"/>
          </p:cNvSpPr>
          <p:nvPr/>
        </p:nvSpPr>
        <p:spPr>
          <a:xfrm>
            <a:off x="6381750" y="1790700"/>
            <a:ext cx="2038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Coaches need structured user data and score history so they can guide the right next step faster.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64FADF47-C659-4FEA-B7AF-F96E48804F55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681B22"/>
                </a:solidFill>
              </a:defRPr>
            </a:pPr>
            <a:r>
              <a:rPr sz="1800" b="1">
                <a:solidFill>
                  <a:srgbClr val="681B22"/>
                </a:solidFill>
              </a:rPr>
              <a:t>The opportunity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29184AD7-AB88-4895-992F-17A97598754C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7429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1412"/>
                </a:solidFill>
              </a:defRPr>
            </a:pPr>
            <a:r>
              <a:rPr sz="1875" b="1">
                <a:solidFill>
                  <a:srgbClr val="171412"/>
                </a:solidFill>
              </a:rPr>
              <a:t>Create a mobile experience that makes wellness assessment simple, trusted, personalized, and connected to a coach or program outcome.</a:t>
            </a:r>
          </a:p>
        </p:txBody>
      </p:sp>
    </p:spTree>
    <p:extLst>
      <p:ext uri="{BB962C8B-B14F-4D97-AF65-F5344CB8AC3E}">
        <p14:creationId xmlns="" xmlns:p14="http://schemas.microsoft.com/office/powerpoint/2010/main" val="271832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4294967295">
            <a:extLst>
              <a:ext uri="{FF2B5EF4-FFF2-40B4-BE49-F238E27FC236}">
                <a16:creationId xmlns="" xmlns:a16="http://schemas.microsoft.com/office/drawing/2014/main" id="{55BA766C-8BB5-4B29-A082-C792315199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245E271-4F4E-4555-AA7C-9095C2F18B06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9144000" cy="47625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59131E37-7333-4DAA-8072-0E8666FC00B2}"/>
              </a:ext>
            </a:extLst>
          </p:cNvPr>
          <p:cNvSpPr>
            <a:spLocks noGrp="1"/>
          </p:cNvSpPr>
          <p:nvPr/>
        </p:nvSpPr>
        <p:spPr>
          <a:xfrm>
            <a:off x="7905750" y="219075"/>
            <a:ext cx="1238250" cy="4924425"/>
          </a:xfrm>
          <a:prstGeom prst="rect">
            <a:avLst/>
          </a:prstGeom>
          <a:solidFill>
            <a:srgbClr val="EFE7DC"/>
          </a:solidFill>
          <a:ln w="0">
            <a:solidFill>
              <a:srgbClr val="EFE7D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10CA8F8-F7A8-481E-8563-AC47CED87C1E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9A8F84"/>
                </a:solidFill>
              </a:defRPr>
            </a:pPr>
            <a:r>
              <a:rPr sz="975" b="0">
                <a:solidFill>
                  <a:srgbClr val="9A8F84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3B768C73-BD83-43C1-B5FD-5A67F140DC8C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681B22"/>
                </a:solidFill>
              </a:defRPr>
            </a:pPr>
            <a:r>
              <a:rPr sz="2400" b="1">
                <a:solidFill>
                  <a:srgbClr val="681B22"/>
                </a:solidFill>
              </a:rPr>
              <a:t>How UF Index works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00432B0C-770C-4CD8-BC51-C39DD51864C1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5650"/>
                </a:solidFill>
              </a:defRPr>
            </a:pPr>
            <a:r>
              <a:rPr sz="1125" b="0">
                <a:solidFill>
                  <a:srgbClr val="5D5650"/>
                </a:solidFill>
              </a:rPr>
              <a:t>The app should guide the user from assessment to action in a clean, confidence-building flow.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="" xmlns:a16="http://schemas.microsoft.com/office/drawing/2014/main" id="{8065B914-499D-4783-A7D1-4854DF67E3C4}"/>
              </a:ext>
            </a:extLst>
          </p:cNvPr>
          <p:cNvSpPr>
            <a:spLocks noGrp="1"/>
          </p:cNvSpPr>
          <p:nvPr/>
        </p:nvSpPr>
        <p:spPr>
          <a:xfrm>
            <a:off x="438150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72F99B2-D80C-4EFF-A2EF-F62904A7A783}"/>
              </a:ext>
            </a:extLst>
          </p:cNvPr>
          <p:cNvSpPr>
            <a:spLocks noGrp="1"/>
          </p:cNvSpPr>
          <p:nvPr/>
        </p:nvSpPr>
        <p:spPr>
          <a:xfrm>
            <a:off x="533400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A3FE42EC-6FB2-4AC6-8458-F282E54FD663}"/>
              </a:ext>
            </a:extLst>
          </p:cNvPr>
          <p:cNvSpPr>
            <a:spLocks noGrp="1"/>
          </p:cNvSpPr>
          <p:nvPr/>
        </p:nvSpPr>
        <p:spPr>
          <a:xfrm>
            <a:off x="1632857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3D456D9-C56B-4129-BF89-E2024AF5A6A5}"/>
              </a:ext>
            </a:extLst>
          </p:cNvPr>
          <p:cNvSpPr>
            <a:spLocks noGrp="1"/>
          </p:cNvSpPr>
          <p:nvPr/>
        </p:nvSpPr>
        <p:spPr>
          <a:xfrm>
            <a:off x="1728107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Body inputs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="" xmlns:a16="http://schemas.microsoft.com/office/drawing/2014/main" id="{F6BFB344-C98B-428B-B105-1D92EAC1BC8D}"/>
              </a:ext>
            </a:extLst>
          </p:cNvPr>
          <p:cNvSpPr>
            <a:spLocks noGrp="1"/>
          </p:cNvSpPr>
          <p:nvPr/>
        </p:nvSpPr>
        <p:spPr>
          <a:xfrm>
            <a:off x="2827564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6D66B1FC-0131-48AA-B5EF-4D093AAD3602}"/>
              </a:ext>
            </a:extLst>
          </p:cNvPr>
          <p:cNvSpPr>
            <a:spLocks noGrp="1"/>
          </p:cNvSpPr>
          <p:nvPr/>
        </p:nvSpPr>
        <p:spPr>
          <a:xfrm>
            <a:off x="2922814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Wellness questions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6198230E-A954-4EE9-8536-86478A28C40C}"/>
              </a:ext>
            </a:extLst>
          </p:cNvPr>
          <p:cNvSpPr>
            <a:spLocks noGrp="1"/>
          </p:cNvSpPr>
          <p:nvPr/>
        </p:nvSpPr>
        <p:spPr>
          <a:xfrm>
            <a:off x="4022271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146B68"/>
          </a:solidFill>
          <a:ln w="0">
            <a:solidFill>
              <a:srgbClr val="146B6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199D962-8E3C-45D2-A4DD-FA5565404D7F}"/>
              </a:ext>
            </a:extLst>
          </p:cNvPr>
          <p:cNvSpPr>
            <a:spLocks noGrp="1"/>
          </p:cNvSpPr>
          <p:nvPr/>
        </p:nvSpPr>
        <p:spPr>
          <a:xfrm>
            <a:off x="4117521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UF Index score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="" xmlns:a16="http://schemas.microsoft.com/office/drawing/2014/main" id="{6F8E8260-59C0-4CC8-A98A-EAA03167C4C0}"/>
              </a:ext>
            </a:extLst>
          </p:cNvPr>
          <p:cNvSpPr>
            <a:spLocks noGrp="1"/>
          </p:cNvSpPr>
          <p:nvPr/>
        </p:nvSpPr>
        <p:spPr>
          <a:xfrm>
            <a:off x="5216979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245F8F"/>
          </a:solidFill>
          <a:ln w="0">
            <a:solidFill>
              <a:srgbClr val="245F8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ABF7F741-17C7-4D20-9EAF-6D2EE41D5DCC}"/>
              </a:ext>
            </a:extLst>
          </p:cNvPr>
          <p:cNvSpPr>
            <a:spLocks noGrp="1"/>
          </p:cNvSpPr>
          <p:nvPr/>
        </p:nvSpPr>
        <p:spPr>
          <a:xfrm>
            <a:off x="5312229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Index Plus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="" xmlns:a16="http://schemas.microsoft.com/office/drawing/2014/main" id="{B558B8E9-02AC-49B6-9C4F-195212901D19}"/>
              </a:ext>
            </a:extLst>
          </p:cNvPr>
          <p:cNvSpPr>
            <a:spLocks noGrp="1"/>
          </p:cNvSpPr>
          <p:nvPr/>
        </p:nvSpPr>
        <p:spPr>
          <a:xfrm>
            <a:off x="6411686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6D4D8F"/>
          </a:solidFill>
          <a:ln w="0">
            <a:solidFill>
              <a:srgbClr val="6D4D8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07D67C74-DDE1-4CE4-B07D-BCC2999CC087}"/>
              </a:ext>
            </a:extLst>
          </p:cNvPr>
          <p:cNvSpPr>
            <a:spLocks noGrp="1"/>
          </p:cNvSpPr>
          <p:nvPr/>
        </p:nvSpPr>
        <p:spPr>
          <a:xfrm>
            <a:off x="6506936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AI insights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="" xmlns:a16="http://schemas.microsoft.com/office/drawing/2014/main" id="{21F8B958-69DE-4893-A1BC-C41D7F9862A1}"/>
              </a:ext>
            </a:extLst>
          </p:cNvPr>
          <p:cNvSpPr>
            <a:spLocks noGrp="1"/>
          </p:cNvSpPr>
          <p:nvPr/>
        </p:nvSpPr>
        <p:spPr>
          <a:xfrm>
            <a:off x="7606393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469F40DB-044A-4FEB-AB6C-23091AEAD562}"/>
              </a:ext>
            </a:extLst>
          </p:cNvPr>
          <p:cNvSpPr>
            <a:spLocks noGrp="1"/>
          </p:cNvSpPr>
          <p:nvPr/>
        </p:nvSpPr>
        <p:spPr>
          <a:xfrm>
            <a:off x="7701643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Coach CTA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="" xmlns:a16="http://schemas.microsoft.com/office/drawing/2014/main" id="{2B5E4C77-938E-4770-9FAA-32B24EC8A3D0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23050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D986E346-7C76-4FBE-81B7-3699D8CCB26E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66675" cy="1143000"/>
          </a:xfrm>
          <a:prstGeom prst="rect">
            <a:avLst/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04C46298-6EAA-47F9-9D7C-592BDDAB0274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Input layer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CDD14035-974F-43BE-B0F0-79418C8803B5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1962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User profile, body measurements, perceived energy, lifestyle signals, and relevant wellness questions.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="" xmlns:a16="http://schemas.microsoft.com/office/drawing/2014/main" id="{05D230E4-A51D-4838-AF02-907AFAADB380}"/>
              </a:ext>
            </a:extLst>
          </p:cNvPr>
          <p:cNvSpPr>
            <a:spLocks noGrp="1"/>
          </p:cNvSpPr>
          <p:nvPr/>
        </p:nvSpPr>
        <p:spPr>
          <a:xfrm>
            <a:off x="3409950" y="2647950"/>
            <a:ext cx="23050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82D10C97-6CB1-4EDB-AC93-59190730BC66}"/>
              </a:ext>
            </a:extLst>
          </p:cNvPr>
          <p:cNvSpPr>
            <a:spLocks noGrp="1"/>
          </p:cNvSpPr>
          <p:nvPr/>
        </p:nvSpPr>
        <p:spPr>
          <a:xfrm>
            <a:off x="3409950" y="2647950"/>
            <a:ext cx="66675" cy="1143000"/>
          </a:xfrm>
          <a:prstGeom prst="rect">
            <a:avLst/>
          </a:prstGeom>
          <a:solidFill>
            <a:srgbClr val="146B68"/>
          </a:solidFill>
          <a:ln w="0">
            <a:solidFill>
              <a:srgbClr val="146B6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B0C8D1BF-0EF7-46CF-8395-6008EF2BB183}"/>
              </a:ext>
            </a:extLst>
          </p:cNvPr>
          <p:cNvSpPr>
            <a:spLocks noGrp="1"/>
          </p:cNvSpPr>
          <p:nvPr/>
        </p:nvSpPr>
        <p:spPr>
          <a:xfrm>
            <a:off x="3600450" y="280035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Scoring layer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8C9199BA-A0E2-4D52-80F9-C9C7651DC4E5}"/>
              </a:ext>
            </a:extLst>
          </p:cNvPr>
          <p:cNvSpPr>
            <a:spLocks noGrp="1"/>
          </p:cNvSpPr>
          <p:nvPr/>
        </p:nvSpPr>
        <p:spPr>
          <a:xfrm>
            <a:off x="3600450" y="3124200"/>
            <a:ext cx="1962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Assessment logic converts inputs into a UF Index score, category, and explanation that users can understand.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="" xmlns:a16="http://schemas.microsoft.com/office/drawing/2014/main" id="{CEF1EC0B-AF2B-4C9C-AD15-DF8A1F89DC46}"/>
              </a:ext>
            </a:extLst>
          </p:cNvPr>
          <p:cNvSpPr>
            <a:spLocks noGrp="1"/>
          </p:cNvSpPr>
          <p:nvPr/>
        </p:nvSpPr>
        <p:spPr>
          <a:xfrm>
            <a:off x="6134100" y="2647950"/>
            <a:ext cx="23050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92D10C8C-C9CE-4B21-9784-6A9B735F20CB}"/>
              </a:ext>
            </a:extLst>
          </p:cNvPr>
          <p:cNvSpPr>
            <a:spLocks noGrp="1"/>
          </p:cNvSpPr>
          <p:nvPr/>
        </p:nvSpPr>
        <p:spPr>
          <a:xfrm>
            <a:off x="6134100" y="2647950"/>
            <a:ext cx="66675" cy="1143000"/>
          </a:xfrm>
          <a:prstGeom prst="rect">
            <a:avLst/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94D544AC-D94E-4A9D-A47C-1E9548C10D35}"/>
              </a:ext>
            </a:extLst>
          </p:cNvPr>
          <p:cNvSpPr>
            <a:spLocks noGrp="1"/>
          </p:cNvSpPr>
          <p:nvPr/>
        </p:nvSpPr>
        <p:spPr>
          <a:xfrm>
            <a:off x="6324600" y="280035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Action layer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F2CF5C4D-F79E-4CED-BB26-1A519483D41B}"/>
              </a:ext>
            </a:extLst>
          </p:cNvPr>
          <p:cNvSpPr>
            <a:spLocks noGrp="1"/>
          </p:cNvSpPr>
          <p:nvPr/>
        </p:nvSpPr>
        <p:spPr>
          <a:xfrm>
            <a:off x="6324600" y="3124200"/>
            <a:ext cx="1962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The app converts the score into personalized insights, next steps, and the option to speak with a coach.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65E4F9C3-8240-4F43-9CB0-F3CCFCA946E7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733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681B22"/>
                </a:solidFill>
              </a:defRPr>
            </a:pPr>
            <a:endParaRPr sz="1425" b="1">
              <a:solidFill>
                <a:srgbClr val="681B22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9172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4294967295">
            <a:extLst>
              <a:ext uri="{FF2B5EF4-FFF2-40B4-BE49-F238E27FC236}">
                <a16:creationId xmlns="" xmlns:a16="http://schemas.microsoft.com/office/drawing/2014/main" id="{04AACB7F-02FD-4E8D-9612-FB9B74B13A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FB85724F-0640-4A04-B8C6-E564261853D5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9144000" cy="47625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40585FE-9725-4D1B-B478-A2D7AE2779FF}"/>
              </a:ext>
            </a:extLst>
          </p:cNvPr>
          <p:cNvSpPr>
            <a:spLocks noGrp="1"/>
          </p:cNvSpPr>
          <p:nvPr/>
        </p:nvSpPr>
        <p:spPr>
          <a:xfrm>
            <a:off x="7905750" y="219075"/>
            <a:ext cx="1238250" cy="4924425"/>
          </a:xfrm>
          <a:prstGeom prst="rect">
            <a:avLst/>
          </a:prstGeom>
          <a:solidFill>
            <a:srgbClr val="EFE7DC"/>
          </a:solidFill>
          <a:ln w="0">
            <a:solidFill>
              <a:srgbClr val="EFE7D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1254D94-0D6A-4285-9A4F-637523294011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9A8F84"/>
                </a:solidFill>
              </a:defRPr>
            </a:pPr>
            <a:r>
              <a:rPr sz="975" b="0">
                <a:solidFill>
                  <a:srgbClr val="9A8F84"/>
                </a:solidFill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F3605F84-27AB-4753-A9E3-A32E0DA195E4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681B22"/>
                </a:solidFill>
              </a:defRPr>
            </a:pPr>
            <a:r>
              <a:rPr sz="2400" b="1">
                <a:solidFill>
                  <a:srgbClr val="681B22"/>
                </a:solidFill>
              </a:rPr>
              <a:t>Product objective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1F0B981-DDF3-4BE6-85D6-93F49240F5E1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5650"/>
                </a:solidFill>
              </a:defRPr>
            </a:pPr>
            <a:r>
              <a:rPr sz="1125" b="0">
                <a:solidFill>
                  <a:srgbClr val="5D5650"/>
                </a:solidFill>
              </a:rPr>
              <a:t>Build a mobile experience that makes UF Index easy to complete, understand, and act 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1C2A78B-0F98-4B3C-9BDD-910BCBD6530C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681B22"/>
                </a:solidFill>
              </a:defRPr>
            </a:pPr>
            <a:r>
              <a:rPr sz="1650" b="1">
                <a:solidFill>
                  <a:srgbClr val="681B22"/>
                </a:solidFill>
              </a:rPr>
              <a:t>Primary goal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F61B60E-43ED-45D7-8898-D401359B8FCE}"/>
              </a:ext>
            </a:extLst>
          </p:cNvPr>
          <p:cNvSpPr>
            <a:spLocks noGrp="1"/>
          </p:cNvSpPr>
          <p:nvPr/>
        </p:nvSpPr>
        <p:spPr>
          <a:xfrm>
            <a:off x="590550" y="1714500"/>
            <a:ext cx="7524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1412"/>
                </a:solidFill>
              </a:defRPr>
            </a:pPr>
            <a:r>
              <a:rPr sz="2025" b="1">
                <a:solidFill>
                  <a:srgbClr val="171412"/>
                </a:solidFill>
              </a:rPr>
              <a:t>Turn UF Index into a personalized wellness companion with a premium, simple, and trustworthy experience.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8FA16B3D-C0D3-49F0-A28C-C9BC600AE7AC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92DF486-7CE5-4C2C-8D4D-4B2AB291D389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6675" cy="1104900"/>
          </a:xfrm>
          <a:prstGeom prst="rect">
            <a:avLst/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C0375F4-9AE7-4E2A-9C83-8579BA16306F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UF Index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49437C4-C996-4E23-B72A-80E02FBC8097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Core mind-body assessment, score, bands, and first-level wellness insights.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C7BB914F-DFCC-4BE9-B031-1EBF14C430BD}"/>
              </a:ext>
            </a:extLst>
          </p:cNvPr>
          <p:cNvSpPr>
            <a:spLocks noGrp="1"/>
          </p:cNvSpPr>
          <p:nvPr/>
        </p:nvSpPr>
        <p:spPr>
          <a:xfrm>
            <a:off x="3390900" y="28575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44C5AD67-3E94-4008-A91D-3EE42CE7B062}"/>
              </a:ext>
            </a:extLst>
          </p:cNvPr>
          <p:cNvSpPr>
            <a:spLocks noGrp="1"/>
          </p:cNvSpPr>
          <p:nvPr/>
        </p:nvSpPr>
        <p:spPr>
          <a:xfrm>
            <a:off x="3390900" y="2857500"/>
            <a:ext cx="66675" cy="1104900"/>
          </a:xfrm>
          <a:prstGeom prst="rect">
            <a:avLst/>
          </a:prstGeom>
          <a:solidFill>
            <a:srgbClr val="245F8F"/>
          </a:solidFill>
          <a:ln w="0">
            <a:solidFill>
              <a:srgbClr val="245F8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4274003B-0136-46A6-B80A-6C7DA1D7275F}"/>
              </a:ext>
            </a:extLst>
          </p:cNvPr>
          <p:cNvSpPr>
            <a:spLocks noGrp="1"/>
          </p:cNvSpPr>
          <p:nvPr/>
        </p:nvSpPr>
        <p:spPr>
          <a:xfrm>
            <a:off x="3581400" y="30099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UF Index Plus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46FCD826-B380-4A36-851B-F88C05175E80}"/>
              </a:ext>
            </a:extLst>
          </p:cNvPr>
          <p:cNvSpPr>
            <a:spLocks noGrp="1"/>
          </p:cNvSpPr>
          <p:nvPr/>
        </p:nvSpPr>
        <p:spPr>
          <a:xfrm>
            <a:off x="3581400" y="333375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Validated wellness assessments such as WHO-5, PSS, PSQI, and WPAI for deeper profiling.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="" xmlns:a16="http://schemas.microsoft.com/office/drawing/2014/main" id="{206027AA-7B8D-4879-B15C-E17E28DE802F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B5828F8B-3912-4BD4-A1E2-F74014C83DE8}"/>
              </a:ext>
            </a:extLst>
          </p:cNvPr>
          <p:cNvSpPr>
            <a:spLocks noGrp="1"/>
          </p:cNvSpPr>
          <p:nvPr/>
        </p:nvSpPr>
        <p:spPr>
          <a:xfrm>
            <a:off x="6191250" y="2857500"/>
            <a:ext cx="66675" cy="1104900"/>
          </a:xfrm>
          <a:prstGeom prst="rect">
            <a:avLst/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B918DED6-A0A4-415E-8E72-01AC921DE698}"/>
              </a:ext>
            </a:extLst>
          </p:cNvPr>
          <p:cNvSpPr>
            <a:spLocks noGrp="1"/>
          </p:cNvSpPr>
          <p:nvPr/>
        </p:nvSpPr>
        <p:spPr>
          <a:xfrm>
            <a:off x="6381750" y="30099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Coach pathway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010DB597-9304-437D-9639-4ECF51AAB0F1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Clear next step from insight to coach conversation, follow-up, or program recommendation.</a:t>
            </a:r>
          </a:p>
        </p:txBody>
      </p:sp>
    </p:spTree>
    <p:extLst>
      <p:ext uri="{BB962C8B-B14F-4D97-AF65-F5344CB8AC3E}">
        <p14:creationId xmlns="" xmlns:p14="http://schemas.microsoft.com/office/powerpoint/2010/main" val="107311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4294967295">
            <a:extLst>
              <a:ext uri="{FF2B5EF4-FFF2-40B4-BE49-F238E27FC236}">
                <a16:creationId xmlns="" xmlns:a16="http://schemas.microsoft.com/office/drawing/2014/main" id="{7BE17A3B-0ED5-40A0-8094-519FAC4A8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4C3ECBD-C2F0-4035-ACAB-AEA4B37A9C88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9144000" cy="47625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CAA0099C-F413-48D3-B9D8-94A1D1DCC508}"/>
              </a:ext>
            </a:extLst>
          </p:cNvPr>
          <p:cNvSpPr>
            <a:spLocks noGrp="1"/>
          </p:cNvSpPr>
          <p:nvPr/>
        </p:nvSpPr>
        <p:spPr>
          <a:xfrm>
            <a:off x="7905750" y="219075"/>
            <a:ext cx="1238250" cy="4924425"/>
          </a:xfrm>
          <a:prstGeom prst="rect">
            <a:avLst/>
          </a:prstGeom>
          <a:solidFill>
            <a:srgbClr val="EFE7DC"/>
          </a:solidFill>
          <a:ln w="0">
            <a:solidFill>
              <a:srgbClr val="EFE7D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490C16BE-DE35-45B8-8517-585204A54152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9A8F84"/>
                </a:solidFill>
              </a:defRPr>
            </a:pPr>
            <a:r>
              <a:rPr sz="975" b="0">
                <a:solidFill>
                  <a:srgbClr val="9A8F84"/>
                </a:solidFill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9CF4A01-E6A8-4434-9585-94C87B56FFA2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681B22"/>
                </a:solidFill>
              </a:defRPr>
            </a:pPr>
            <a:r>
              <a:rPr sz="2400" b="1">
                <a:solidFill>
                  <a:srgbClr val="681B22"/>
                </a:solidFill>
              </a:rPr>
              <a:t>User journey and assessment 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313C610-5BFA-44DD-BEA0-DCC3FA566009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5650"/>
                </a:solidFill>
              </a:defRPr>
            </a:pPr>
            <a:r>
              <a:rPr sz="1125" b="0">
                <a:solidFill>
                  <a:srgbClr val="5D5650"/>
                </a:solidFill>
              </a:rPr>
              <a:t>The UX must guide users through the assessment without making the product feel clinical or heavy.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="" xmlns:a16="http://schemas.microsoft.com/office/drawing/2014/main" id="{BBA4BA65-5E70-4CB0-BE69-A4AA290CDA0A}"/>
              </a:ext>
            </a:extLst>
          </p:cNvPr>
          <p:cNvSpPr>
            <a:spLocks noGrp="1"/>
          </p:cNvSpPr>
          <p:nvPr/>
        </p:nvSpPr>
        <p:spPr>
          <a:xfrm>
            <a:off x="438150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F10E48A-8D76-4A17-9C45-6F1A5256D3CF}"/>
              </a:ext>
            </a:extLst>
          </p:cNvPr>
          <p:cNvSpPr>
            <a:spLocks noGrp="1"/>
          </p:cNvSpPr>
          <p:nvPr/>
        </p:nvSpPr>
        <p:spPr>
          <a:xfrm>
            <a:off x="533400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Sign up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063353ED-43BB-4B92-BA57-6D4A0DFF715D}"/>
              </a:ext>
            </a:extLst>
          </p:cNvPr>
          <p:cNvSpPr>
            <a:spLocks noGrp="1"/>
          </p:cNvSpPr>
          <p:nvPr/>
        </p:nvSpPr>
        <p:spPr>
          <a:xfrm>
            <a:off x="1632857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CA9A62E-8DB3-419A-A9F6-691586CDDF91}"/>
              </a:ext>
            </a:extLst>
          </p:cNvPr>
          <p:cNvSpPr>
            <a:spLocks noGrp="1"/>
          </p:cNvSpPr>
          <p:nvPr/>
        </p:nvSpPr>
        <p:spPr>
          <a:xfrm>
            <a:off x="1728107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Consent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="" xmlns:a16="http://schemas.microsoft.com/office/drawing/2014/main" id="{2D556589-0FF3-46AA-8BBF-936E22FE66B3}"/>
              </a:ext>
            </a:extLst>
          </p:cNvPr>
          <p:cNvSpPr>
            <a:spLocks noGrp="1"/>
          </p:cNvSpPr>
          <p:nvPr/>
        </p:nvSpPr>
        <p:spPr>
          <a:xfrm>
            <a:off x="2827564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245F8F"/>
          </a:solidFill>
          <a:ln w="0">
            <a:solidFill>
              <a:srgbClr val="245F8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B1199CCB-5165-4D34-95FF-241DDEDC971A}"/>
              </a:ext>
            </a:extLst>
          </p:cNvPr>
          <p:cNvSpPr>
            <a:spLocks noGrp="1"/>
          </p:cNvSpPr>
          <p:nvPr/>
        </p:nvSpPr>
        <p:spPr>
          <a:xfrm>
            <a:off x="2922814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UF Index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74BB6DD5-6E73-4141-9E52-FECAA2FC2B0A}"/>
              </a:ext>
            </a:extLst>
          </p:cNvPr>
          <p:cNvSpPr>
            <a:spLocks noGrp="1"/>
          </p:cNvSpPr>
          <p:nvPr/>
        </p:nvSpPr>
        <p:spPr>
          <a:xfrm>
            <a:off x="4022271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146B68"/>
          </a:solidFill>
          <a:ln w="0">
            <a:solidFill>
              <a:srgbClr val="146B6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5E79255-9ACC-4F29-ABFE-30E93F94785D}"/>
              </a:ext>
            </a:extLst>
          </p:cNvPr>
          <p:cNvSpPr>
            <a:spLocks noGrp="1"/>
          </p:cNvSpPr>
          <p:nvPr/>
        </p:nvSpPr>
        <p:spPr>
          <a:xfrm>
            <a:off x="4117521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="" xmlns:a16="http://schemas.microsoft.com/office/drawing/2014/main" id="{AE95F83F-77DA-40A2-A39F-470D3392B726}"/>
              </a:ext>
            </a:extLst>
          </p:cNvPr>
          <p:cNvSpPr>
            <a:spLocks noGrp="1"/>
          </p:cNvSpPr>
          <p:nvPr/>
        </p:nvSpPr>
        <p:spPr>
          <a:xfrm>
            <a:off x="5216979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9A461BD3-1267-456B-ADF0-1A21F25FA93A}"/>
              </a:ext>
            </a:extLst>
          </p:cNvPr>
          <p:cNvSpPr>
            <a:spLocks noGrp="1"/>
          </p:cNvSpPr>
          <p:nvPr/>
        </p:nvSpPr>
        <p:spPr>
          <a:xfrm>
            <a:off x="5312229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Index Plus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="" xmlns:a16="http://schemas.microsoft.com/office/drawing/2014/main" id="{B457E73E-AA21-438C-AD35-7F587BB6560A}"/>
              </a:ext>
            </a:extLst>
          </p:cNvPr>
          <p:cNvSpPr>
            <a:spLocks noGrp="1"/>
          </p:cNvSpPr>
          <p:nvPr/>
        </p:nvSpPr>
        <p:spPr>
          <a:xfrm>
            <a:off x="6411686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6D4D8F"/>
          </a:solidFill>
          <a:ln w="0">
            <a:solidFill>
              <a:srgbClr val="6D4D8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882613E0-AD1E-4806-8305-FBE4E5530779}"/>
              </a:ext>
            </a:extLst>
          </p:cNvPr>
          <p:cNvSpPr>
            <a:spLocks noGrp="1"/>
          </p:cNvSpPr>
          <p:nvPr/>
        </p:nvSpPr>
        <p:spPr>
          <a:xfrm>
            <a:off x="6506936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Insights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="" xmlns:a16="http://schemas.microsoft.com/office/drawing/2014/main" id="{CC73F2D6-E947-492D-9011-AD426E3E9433}"/>
              </a:ext>
            </a:extLst>
          </p:cNvPr>
          <p:cNvSpPr>
            <a:spLocks noGrp="1"/>
          </p:cNvSpPr>
          <p:nvPr/>
        </p:nvSpPr>
        <p:spPr>
          <a:xfrm>
            <a:off x="7606393" y="1428750"/>
            <a:ext cx="1099457" cy="628650"/>
          </a:xfrm>
          <a:prstGeom prst="roundRect">
            <a:avLst>
              <a:gd name="adj" fmla="val 12121"/>
            </a:avLst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54EB0DD0-4B45-4840-9E08-CA2085DE098F}"/>
              </a:ext>
            </a:extLst>
          </p:cNvPr>
          <p:cNvSpPr>
            <a:spLocks noGrp="1"/>
          </p:cNvSpPr>
          <p:nvPr/>
        </p:nvSpPr>
        <p:spPr>
          <a:xfrm>
            <a:off x="7701643" y="1590675"/>
            <a:ext cx="908957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Coach CTA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="" xmlns:a16="http://schemas.microsoft.com/office/drawing/2014/main" id="{3B4FE91D-1D09-4B51-96DB-E07CB3D05226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23431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8BA5BF79-FB4C-45A1-988F-2A189C2BF264}"/>
              </a:ext>
            </a:extLst>
          </p:cNvPr>
          <p:cNvSpPr>
            <a:spLocks noGrp="1"/>
          </p:cNvSpPr>
          <p:nvPr/>
        </p:nvSpPr>
        <p:spPr>
          <a:xfrm>
            <a:off x="666750" y="2809875"/>
            <a:ext cx="66675" cy="1143000"/>
          </a:xfrm>
          <a:prstGeom prst="rect">
            <a:avLst/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7ED0D20D-7040-4FC8-BA4C-AB5AF9E0A9EC}"/>
              </a:ext>
            </a:extLst>
          </p:cNvPr>
          <p:cNvSpPr>
            <a:spLocks noGrp="1"/>
          </p:cNvSpPr>
          <p:nvPr/>
        </p:nvSpPr>
        <p:spPr>
          <a:xfrm>
            <a:off x="857224" y="292894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Core UF Index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7F1B6EA7-82E7-4CB4-A8AD-AACD96FF4E05}"/>
              </a:ext>
            </a:extLst>
          </p:cNvPr>
          <p:cNvSpPr>
            <a:spLocks noGrp="1"/>
          </p:cNvSpPr>
          <p:nvPr/>
        </p:nvSpPr>
        <p:spPr>
          <a:xfrm>
            <a:off x="857224" y="3214692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Personal details, body measurements, wellness questions, activity inputs, and score generation.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="" xmlns:a16="http://schemas.microsoft.com/office/drawing/2014/main" id="{D774F1C9-31C1-4D76-AFBA-C778D40A86C2}"/>
              </a:ext>
            </a:extLst>
          </p:cNvPr>
          <p:cNvSpPr>
            <a:spLocks noGrp="1"/>
          </p:cNvSpPr>
          <p:nvPr/>
        </p:nvSpPr>
        <p:spPr>
          <a:xfrm>
            <a:off x="3390900" y="2809875"/>
            <a:ext cx="23431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0BB28DC2-61FA-485B-8147-42012B420911}"/>
              </a:ext>
            </a:extLst>
          </p:cNvPr>
          <p:cNvSpPr>
            <a:spLocks noGrp="1"/>
          </p:cNvSpPr>
          <p:nvPr/>
        </p:nvSpPr>
        <p:spPr>
          <a:xfrm>
            <a:off x="3390900" y="2809875"/>
            <a:ext cx="66675" cy="1143000"/>
          </a:xfrm>
          <a:prstGeom prst="rect">
            <a:avLst/>
          </a:prstGeom>
          <a:solidFill>
            <a:srgbClr val="245F8F"/>
          </a:solidFill>
          <a:ln w="0">
            <a:solidFill>
              <a:srgbClr val="245F8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60132BA4-7EB4-452C-B15E-4C42684D8191}"/>
              </a:ext>
            </a:extLst>
          </p:cNvPr>
          <p:cNvSpPr>
            <a:spLocks noGrp="1"/>
          </p:cNvSpPr>
          <p:nvPr/>
        </p:nvSpPr>
        <p:spPr>
          <a:xfrm>
            <a:off x="3571868" y="292894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Premium assessment layer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30AB353D-3070-4EE0-B995-EC07832175A8}"/>
              </a:ext>
            </a:extLst>
          </p:cNvPr>
          <p:cNvSpPr>
            <a:spLocks noGrp="1"/>
          </p:cNvSpPr>
          <p:nvPr/>
        </p:nvSpPr>
        <p:spPr>
          <a:xfrm>
            <a:off x="3571868" y="3357568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WHO-5, PSS, PSQI, WPAI, and other validated wellness assessments where appropriate.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="" xmlns:a16="http://schemas.microsoft.com/office/drawing/2014/main" id="{7B1FC0E6-C4D0-44A8-9285-FBAD64A96BDC}"/>
              </a:ext>
            </a:extLst>
          </p:cNvPr>
          <p:cNvSpPr>
            <a:spLocks noGrp="1"/>
          </p:cNvSpPr>
          <p:nvPr/>
        </p:nvSpPr>
        <p:spPr>
          <a:xfrm>
            <a:off x="6115050" y="2809875"/>
            <a:ext cx="23431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EBAFA646-753D-417A-AD97-8882A9637AB0}"/>
              </a:ext>
            </a:extLst>
          </p:cNvPr>
          <p:cNvSpPr>
            <a:spLocks noGrp="1"/>
          </p:cNvSpPr>
          <p:nvPr/>
        </p:nvSpPr>
        <p:spPr>
          <a:xfrm>
            <a:off x="6115050" y="2809875"/>
            <a:ext cx="66675" cy="1143000"/>
          </a:xfrm>
          <a:prstGeom prst="rect">
            <a:avLst/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994D60BF-B1FE-405E-BF54-99CE6FA55D1A}"/>
              </a:ext>
            </a:extLst>
          </p:cNvPr>
          <p:cNvSpPr>
            <a:spLocks noGrp="1"/>
          </p:cNvSpPr>
          <p:nvPr/>
        </p:nvSpPr>
        <p:spPr>
          <a:xfrm>
            <a:off x="6305550" y="2962275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Output experience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FA4E96DD-1508-4FB0-86D3-72CFE02912F2}"/>
              </a:ext>
            </a:extLst>
          </p:cNvPr>
          <p:cNvSpPr>
            <a:spLocks noGrp="1"/>
          </p:cNvSpPr>
          <p:nvPr/>
        </p:nvSpPr>
        <p:spPr>
          <a:xfrm>
            <a:off x="6305550" y="3286125"/>
            <a:ext cx="200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Score, explanation, trend/history, personalized recommendation, and option to speak with a coach.</a:t>
            </a:r>
          </a:p>
        </p:txBody>
      </p:sp>
    </p:spTree>
    <p:extLst>
      <p:ext uri="{BB962C8B-B14F-4D97-AF65-F5344CB8AC3E}">
        <p14:creationId xmlns="" xmlns:p14="http://schemas.microsoft.com/office/powerpoint/2010/main" val="924054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4294967295">
            <a:extLst>
              <a:ext uri="{FF2B5EF4-FFF2-40B4-BE49-F238E27FC236}">
                <a16:creationId xmlns="" xmlns:a16="http://schemas.microsoft.com/office/drawing/2014/main" id="{A5A91B45-F171-46FE-AC06-0B9226C987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9D5C9C1-E2B8-4423-998F-3ED810D3A480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9144000" cy="47625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6C59DC1F-6FE8-4F86-9DA4-C2923DB29761}"/>
              </a:ext>
            </a:extLst>
          </p:cNvPr>
          <p:cNvSpPr>
            <a:spLocks noGrp="1"/>
          </p:cNvSpPr>
          <p:nvPr/>
        </p:nvSpPr>
        <p:spPr>
          <a:xfrm>
            <a:off x="7905750" y="219075"/>
            <a:ext cx="1238250" cy="4924425"/>
          </a:xfrm>
          <a:prstGeom prst="rect">
            <a:avLst/>
          </a:prstGeom>
          <a:solidFill>
            <a:srgbClr val="EFE7DC"/>
          </a:solidFill>
          <a:ln w="0">
            <a:solidFill>
              <a:srgbClr val="EFE7D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74913EA-78BB-461B-B27F-6A1E6369958D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9A8F84"/>
                </a:solidFill>
              </a:defRPr>
            </a:pPr>
            <a:r>
              <a:rPr sz="975" b="0">
                <a:solidFill>
                  <a:srgbClr val="9A8F84"/>
                </a:solidFill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FA5A5B56-72C4-4AB8-B71E-BA40193A6576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681B22"/>
                </a:solidFill>
              </a:defRPr>
            </a:pPr>
            <a:r>
              <a:rPr sz="2400" b="1">
                <a:solidFill>
                  <a:srgbClr val="681B22"/>
                </a:solidFill>
              </a:rPr>
              <a:t> </a:t>
            </a:r>
            <a:r>
              <a:rPr lang="en-IN" sz="2400" b="1" dirty="0">
                <a:solidFill>
                  <a:srgbClr val="681B22"/>
                </a:solidFill>
              </a:rPr>
              <a:t>A</a:t>
            </a:r>
            <a:r>
              <a:rPr sz="2400" b="1">
                <a:solidFill>
                  <a:srgbClr val="681B22"/>
                </a:solidFill>
              </a:rPr>
              <a:t>pp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E6DCC2C-2DB3-4209-954E-5A3749B5E6A1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5650"/>
                </a:solidFill>
              </a:defRPr>
            </a:pPr>
            <a:r>
              <a:rPr sz="1125" b="0">
                <a:solidFill>
                  <a:srgbClr val="5D5650"/>
                </a:solidFill>
              </a:rPr>
              <a:t>A simple architecture </a:t>
            </a:r>
            <a:r>
              <a:rPr lang="en-IN" sz="1125" b="0" dirty="0">
                <a:solidFill>
                  <a:srgbClr val="5D5650"/>
                </a:solidFill>
              </a:rPr>
              <a:t>of the </a:t>
            </a:r>
            <a:r>
              <a:rPr lang="en-IN" sz="1125" dirty="0">
                <a:solidFill>
                  <a:srgbClr val="5D5650"/>
                </a:solidFill>
              </a:rPr>
              <a:t>App</a:t>
            </a:r>
            <a:r>
              <a:rPr sz="1125" b="0">
                <a:solidFill>
                  <a:srgbClr val="5D5650"/>
                </a:solidFill>
              </a:rPr>
              <a:t>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="" xmlns:a16="http://schemas.microsoft.com/office/drawing/2014/main" id="{09D34887-C80E-4227-BDB9-B4ED72A22B07}"/>
              </a:ext>
            </a:extLst>
          </p:cNvPr>
          <p:cNvSpPr>
            <a:spLocks noGrp="1"/>
          </p:cNvSpPr>
          <p:nvPr/>
        </p:nvSpPr>
        <p:spPr>
          <a:xfrm>
            <a:off x="438150" y="1524000"/>
            <a:ext cx="12001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C9281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BC138F91-9967-4805-82FF-B35A57ABA781}"/>
              </a:ext>
            </a:extLst>
          </p:cNvPr>
          <p:cNvSpPr>
            <a:spLocks noGrp="1"/>
          </p:cNvSpPr>
          <p:nvPr/>
        </p:nvSpPr>
        <p:spPr>
          <a:xfrm>
            <a:off x="514350" y="164782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C92812"/>
                </a:solidFill>
              </a:defRPr>
            </a:pPr>
            <a:r>
              <a:rPr sz="1125" b="1">
                <a:solidFill>
                  <a:srgbClr val="C92812"/>
                </a:solidFill>
              </a:rPr>
              <a:t>Mobile App UI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8BC8D65-3FDA-4948-82AB-5AB8D294803E}"/>
              </a:ext>
            </a:extLst>
          </p:cNvPr>
          <p:cNvSpPr>
            <a:spLocks noGrp="1"/>
          </p:cNvSpPr>
          <p:nvPr/>
        </p:nvSpPr>
        <p:spPr>
          <a:xfrm>
            <a:off x="533400" y="2009775"/>
            <a:ext cx="1009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Figma prototype</a:t>
            </a:r>
          </a:p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Frontend build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A75520D-FEF9-4578-B3DC-38DF2C9B1B4A}"/>
              </a:ext>
            </a:extLst>
          </p:cNvPr>
          <p:cNvSpPr>
            <a:spLocks noGrp="1"/>
          </p:cNvSpPr>
          <p:nvPr/>
        </p:nvSpPr>
        <p:spPr>
          <a:xfrm>
            <a:off x="1676400" y="19240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81B22"/>
                </a:solidFill>
              </a:defRPr>
            </a:pPr>
            <a:r>
              <a:rPr sz="1650" b="1">
                <a:solidFill>
                  <a:srgbClr val="681B22"/>
                </a:solidFill>
              </a:rPr>
              <a:t>&gt;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="" xmlns:a16="http://schemas.microsoft.com/office/drawing/2014/main" id="{220EDD0C-C1CB-4218-BCF1-3AC4C0A90C3C}"/>
              </a:ext>
            </a:extLst>
          </p:cNvPr>
          <p:cNvSpPr>
            <a:spLocks noGrp="1"/>
          </p:cNvSpPr>
          <p:nvPr/>
        </p:nvSpPr>
        <p:spPr>
          <a:xfrm>
            <a:off x="1828800" y="1524000"/>
            <a:ext cx="12001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245F8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4AD91308-01C8-4D82-AEB3-D24CE8E38087}"/>
              </a:ext>
            </a:extLst>
          </p:cNvPr>
          <p:cNvSpPr>
            <a:spLocks noGrp="1"/>
          </p:cNvSpPr>
          <p:nvPr/>
        </p:nvSpPr>
        <p:spPr>
          <a:xfrm>
            <a:off x="1905000" y="164782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245F8F"/>
                </a:solidFill>
              </a:defRPr>
            </a:pPr>
            <a:r>
              <a:rPr sz="1125" b="1">
                <a:solidFill>
                  <a:srgbClr val="245F8F"/>
                </a:solidFill>
              </a:rPr>
              <a:t>API Layer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104C2247-E63D-4F95-BFBD-09AF37FF4912}"/>
              </a:ext>
            </a:extLst>
          </p:cNvPr>
          <p:cNvSpPr>
            <a:spLocks noGrp="1"/>
          </p:cNvSpPr>
          <p:nvPr/>
        </p:nvSpPr>
        <p:spPr>
          <a:xfrm>
            <a:off x="1924050" y="2009775"/>
            <a:ext cx="1009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Secure backend</a:t>
            </a:r>
          </a:p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Business logic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E0E184CD-1A9C-4FE4-861D-A0552593A963}"/>
              </a:ext>
            </a:extLst>
          </p:cNvPr>
          <p:cNvSpPr>
            <a:spLocks noGrp="1"/>
          </p:cNvSpPr>
          <p:nvPr/>
        </p:nvSpPr>
        <p:spPr>
          <a:xfrm>
            <a:off x="3067050" y="19240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81B22"/>
                </a:solidFill>
              </a:defRPr>
            </a:pPr>
            <a:r>
              <a:rPr sz="1650" b="1">
                <a:solidFill>
                  <a:srgbClr val="681B22"/>
                </a:solidFill>
              </a:rPr>
              <a:t>&gt;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="" xmlns:a16="http://schemas.microsoft.com/office/drawing/2014/main" id="{79FE7719-BDDD-4663-B458-D1183356BC29}"/>
              </a:ext>
            </a:extLst>
          </p:cNvPr>
          <p:cNvSpPr>
            <a:spLocks noGrp="1"/>
          </p:cNvSpPr>
          <p:nvPr/>
        </p:nvSpPr>
        <p:spPr>
          <a:xfrm>
            <a:off x="3219450" y="1524000"/>
            <a:ext cx="12001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B3741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B8FF2F90-5C6A-4D85-87DC-ABAFDC1BEE4C}"/>
              </a:ext>
            </a:extLst>
          </p:cNvPr>
          <p:cNvSpPr>
            <a:spLocks noGrp="1"/>
          </p:cNvSpPr>
          <p:nvPr/>
        </p:nvSpPr>
        <p:spPr>
          <a:xfrm>
            <a:off x="3295650" y="164782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B37418"/>
                </a:solidFill>
              </a:defRPr>
            </a:pPr>
            <a:r>
              <a:rPr sz="1125" b="1">
                <a:solidFill>
                  <a:srgbClr val="B37418"/>
                </a:solidFill>
              </a:rPr>
              <a:t>Assessment Engine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41EFCBE7-66AF-4AAF-9503-1CC8BD03C4A4}"/>
              </a:ext>
            </a:extLst>
          </p:cNvPr>
          <p:cNvSpPr>
            <a:spLocks noGrp="1"/>
          </p:cNvSpPr>
          <p:nvPr/>
        </p:nvSpPr>
        <p:spPr>
          <a:xfrm>
            <a:off x="3314700" y="2009775"/>
            <a:ext cx="1009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UF Index score</a:t>
            </a:r>
          </a:p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Index Plus forms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F3B8EBFD-77D6-468C-A88D-8D1D0300D3B2}"/>
              </a:ext>
            </a:extLst>
          </p:cNvPr>
          <p:cNvSpPr>
            <a:spLocks noGrp="1"/>
          </p:cNvSpPr>
          <p:nvPr/>
        </p:nvSpPr>
        <p:spPr>
          <a:xfrm>
            <a:off x="4457700" y="19240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81B22"/>
                </a:solidFill>
              </a:defRPr>
            </a:pPr>
            <a:r>
              <a:rPr sz="1650" b="1">
                <a:solidFill>
                  <a:srgbClr val="681B22"/>
                </a:solidFill>
              </a:rPr>
              <a:t>&gt;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="" xmlns:a16="http://schemas.microsoft.com/office/drawing/2014/main" id="{B62BC001-ADC9-426B-ACDC-5BCE23A8EF48}"/>
              </a:ext>
            </a:extLst>
          </p:cNvPr>
          <p:cNvSpPr>
            <a:spLocks noGrp="1"/>
          </p:cNvSpPr>
          <p:nvPr/>
        </p:nvSpPr>
        <p:spPr>
          <a:xfrm>
            <a:off x="4610100" y="1524000"/>
            <a:ext cx="12001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146B6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AD9C6C64-3866-4E85-8609-FB927C1552C3}"/>
              </a:ext>
            </a:extLst>
          </p:cNvPr>
          <p:cNvSpPr>
            <a:spLocks noGrp="1"/>
          </p:cNvSpPr>
          <p:nvPr/>
        </p:nvSpPr>
        <p:spPr>
          <a:xfrm>
            <a:off x="4686300" y="164782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46B68"/>
                </a:solidFill>
              </a:defRPr>
            </a:pPr>
            <a:r>
              <a:rPr sz="1125" b="1">
                <a:solidFill>
                  <a:srgbClr val="146B68"/>
                </a:solidFill>
              </a:rPr>
              <a:t>Database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482ECD0F-96C8-413E-A3FD-41F61E41E473}"/>
              </a:ext>
            </a:extLst>
          </p:cNvPr>
          <p:cNvSpPr>
            <a:spLocks noGrp="1"/>
          </p:cNvSpPr>
          <p:nvPr/>
        </p:nvSpPr>
        <p:spPr>
          <a:xfrm>
            <a:off x="4705350" y="2009775"/>
            <a:ext cx="1009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Profiles, responses</a:t>
            </a:r>
          </a:p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Scores, history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EC4BD86A-37B1-4BB9-8C6C-287EBE9ABF0A}"/>
              </a:ext>
            </a:extLst>
          </p:cNvPr>
          <p:cNvSpPr>
            <a:spLocks noGrp="1"/>
          </p:cNvSpPr>
          <p:nvPr/>
        </p:nvSpPr>
        <p:spPr>
          <a:xfrm>
            <a:off x="5848350" y="19240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81B22"/>
                </a:solidFill>
              </a:defRPr>
            </a:pPr>
            <a:r>
              <a:rPr sz="1650" b="1">
                <a:solidFill>
                  <a:srgbClr val="681B22"/>
                </a:solidFill>
              </a:rPr>
              <a:t>&gt;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="" xmlns:a16="http://schemas.microsoft.com/office/drawing/2014/main" id="{B1F522AA-40B9-4115-8E3B-8900226AE69C}"/>
              </a:ext>
            </a:extLst>
          </p:cNvPr>
          <p:cNvSpPr>
            <a:spLocks noGrp="1"/>
          </p:cNvSpPr>
          <p:nvPr/>
        </p:nvSpPr>
        <p:spPr>
          <a:xfrm>
            <a:off x="6000750" y="1524000"/>
            <a:ext cx="12001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6D4D8F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01752885-B81A-4BDA-88F9-E9C440DE0000}"/>
              </a:ext>
            </a:extLst>
          </p:cNvPr>
          <p:cNvSpPr>
            <a:spLocks noGrp="1"/>
          </p:cNvSpPr>
          <p:nvPr/>
        </p:nvSpPr>
        <p:spPr>
          <a:xfrm>
            <a:off x="6076950" y="164782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6D4D8F"/>
                </a:solidFill>
              </a:defRPr>
            </a:pPr>
            <a:r>
              <a:rPr sz="1125" b="1">
                <a:solidFill>
                  <a:srgbClr val="6D4D8F"/>
                </a:solidFill>
              </a:rPr>
              <a:t>AI Insights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4B2279C4-68A3-45E2-8299-D0883EB6F36D}"/>
              </a:ext>
            </a:extLst>
          </p:cNvPr>
          <p:cNvSpPr>
            <a:spLocks noGrp="1"/>
          </p:cNvSpPr>
          <p:nvPr/>
        </p:nvSpPr>
        <p:spPr>
          <a:xfrm>
            <a:off x="6096000" y="2009775"/>
            <a:ext cx="1009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Guidance</a:t>
            </a:r>
          </a:p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Coach prep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ED911FB3-CF4E-4C68-8EF7-405857B52F8C}"/>
              </a:ext>
            </a:extLst>
          </p:cNvPr>
          <p:cNvSpPr>
            <a:spLocks noGrp="1"/>
          </p:cNvSpPr>
          <p:nvPr/>
        </p:nvSpPr>
        <p:spPr>
          <a:xfrm>
            <a:off x="7239000" y="1924050"/>
            <a:ext cx="152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681B22"/>
                </a:solidFill>
              </a:defRPr>
            </a:pPr>
            <a:r>
              <a:rPr sz="1650" b="1">
                <a:solidFill>
                  <a:srgbClr val="681B22"/>
                </a:solidFill>
              </a:rPr>
              <a:t>&gt;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="" xmlns:a16="http://schemas.microsoft.com/office/drawing/2014/main" id="{945BBEA7-1601-41B7-BD49-84D1FAA2DACB}"/>
              </a:ext>
            </a:extLst>
          </p:cNvPr>
          <p:cNvSpPr>
            <a:spLocks noGrp="1"/>
          </p:cNvSpPr>
          <p:nvPr/>
        </p:nvSpPr>
        <p:spPr>
          <a:xfrm>
            <a:off x="7391400" y="1524000"/>
            <a:ext cx="12001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1F7A55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CA295DAE-F741-491A-A12A-02045537CD26}"/>
              </a:ext>
            </a:extLst>
          </p:cNvPr>
          <p:cNvSpPr>
            <a:spLocks noGrp="1"/>
          </p:cNvSpPr>
          <p:nvPr/>
        </p:nvSpPr>
        <p:spPr>
          <a:xfrm>
            <a:off x="7467600" y="1647825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F7A55"/>
                </a:solidFill>
              </a:defRPr>
            </a:pPr>
            <a:r>
              <a:rPr sz="1125" b="1">
                <a:solidFill>
                  <a:srgbClr val="1F7A55"/>
                </a:solidFill>
              </a:rPr>
              <a:t>Coach/Admin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9F4DBDE1-EADC-45B5-809D-25185ED76CE2}"/>
              </a:ext>
            </a:extLst>
          </p:cNvPr>
          <p:cNvSpPr>
            <a:spLocks noGrp="1"/>
          </p:cNvSpPr>
          <p:nvPr/>
        </p:nvSpPr>
        <p:spPr>
          <a:xfrm>
            <a:off x="7486650" y="2009775"/>
            <a:ext cx="1009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Review dashboard</a:t>
            </a:r>
          </a:p>
          <a:p>
            <a:pPr algn="ctr">
              <a:defRPr sz="863" b="0">
                <a:solidFill>
                  <a:srgbClr val="5D5650"/>
                </a:solidFill>
              </a:defRPr>
            </a:pPr>
            <a:r>
              <a:rPr sz="863" b="0">
                <a:solidFill>
                  <a:srgbClr val="5D5650"/>
                </a:solidFill>
              </a:rPr>
              <a:t>Follow-up workflow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="" xmlns:a16="http://schemas.microsoft.com/office/drawing/2014/main" id="{62878903-B0D8-4FA8-9430-B48B2BAA30C8}"/>
              </a:ext>
            </a:extLst>
          </p:cNvPr>
          <p:cNvSpPr>
            <a:spLocks noGrp="1"/>
          </p:cNvSpPr>
          <p:nvPr/>
        </p:nvSpPr>
        <p:spPr>
          <a:xfrm>
            <a:off x="1000100" y="3214692"/>
            <a:ext cx="3167060" cy="11192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9D1CE464-D86E-42F1-A0B9-DAEF6FFE6B9A}"/>
              </a:ext>
            </a:extLst>
          </p:cNvPr>
          <p:cNvSpPr>
            <a:spLocks noGrp="1"/>
          </p:cNvSpPr>
          <p:nvPr/>
        </p:nvSpPr>
        <p:spPr>
          <a:xfrm>
            <a:off x="1000100" y="3214692"/>
            <a:ext cx="71438" cy="1071570"/>
          </a:xfrm>
          <a:prstGeom prst="rect">
            <a:avLst/>
          </a:prstGeom>
          <a:solidFill>
            <a:srgbClr val="245F8F"/>
          </a:solidFill>
          <a:ln w="0">
            <a:solidFill>
              <a:srgbClr val="245F8F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D55CE4DC-0F0B-4C69-9F25-6CCCE1F8EA25}"/>
              </a:ext>
            </a:extLst>
          </p:cNvPr>
          <p:cNvSpPr>
            <a:spLocks noGrp="1"/>
          </p:cNvSpPr>
          <p:nvPr/>
        </p:nvSpPr>
        <p:spPr>
          <a:xfrm>
            <a:off x="1238250" y="339090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Core integrations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91ECEE21-7841-4C11-A696-EC307C0CBC1F}"/>
              </a:ext>
            </a:extLst>
          </p:cNvPr>
          <p:cNvSpPr>
            <a:spLocks noGrp="1"/>
          </p:cNvSpPr>
          <p:nvPr/>
        </p:nvSpPr>
        <p:spPr>
          <a:xfrm>
            <a:off x="1238250" y="37147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Authentication, notifications, analytics, payments if premium access is included, and app-store publishing workflow.</a:t>
            </a:r>
          </a:p>
        </p:txBody>
      </p:sp>
    </p:spTree>
    <p:extLst>
      <p:ext uri="{BB962C8B-B14F-4D97-AF65-F5344CB8AC3E}">
        <p14:creationId xmlns="" xmlns:p14="http://schemas.microsoft.com/office/powerpoint/2010/main" val="643891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4294967295">
            <a:extLst>
              <a:ext uri="{FF2B5EF4-FFF2-40B4-BE49-F238E27FC236}">
                <a16:creationId xmlns="" xmlns:a16="http://schemas.microsoft.com/office/drawing/2014/main" id="{570FDCB2-C433-470F-8E51-C6DAC15A28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02345AD-0F5B-45A5-A07E-D22A57879652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9144000" cy="47625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8991B1C-614F-4D53-BC11-D9B004278356}"/>
              </a:ext>
            </a:extLst>
          </p:cNvPr>
          <p:cNvSpPr>
            <a:spLocks noGrp="1"/>
          </p:cNvSpPr>
          <p:nvPr/>
        </p:nvSpPr>
        <p:spPr>
          <a:xfrm>
            <a:off x="7905750" y="219075"/>
            <a:ext cx="1238250" cy="4924425"/>
          </a:xfrm>
          <a:prstGeom prst="rect">
            <a:avLst/>
          </a:prstGeom>
          <a:solidFill>
            <a:srgbClr val="EFE7DC"/>
          </a:solidFill>
          <a:ln w="0">
            <a:solidFill>
              <a:srgbClr val="EFE7D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C2BBA0D-D3AE-4FDE-B7F6-5674E99C660F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9A8F84"/>
                </a:solidFill>
              </a:defRPr>
            </a:pPr>
            <a:r>
              <a:rPr sz="975" b="0">
                <a:solidFill>
                  <a:srgbClr val="9A8F84"/>
                </a:solidFill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C3E50F-DBC7-451F-8C61-E4EC800CD165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681B22"/>
                </a:solidFill>
              </a:defRPr>
            </a:pPr>
            <a:r>
              <a:rPr sz="2400" b="1">
                <a:solidFill>
                  <a:srgbClr val="681B22"/>
                </a:solidFill>
              </a:rPr>
              <a:t>Front-end design direction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BF158A6E-EEDA-4E18-94CF-33BF3E6C9208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5650"/>
                </a:solidFill>
              </a:defRPr>
            </a:pPr>
            <a:r>
              <a:rPr sz="1125" b="0">
                <a:solidFill>
                  <a:srgbClr val="5D5650"/>
                </a:solidFill>
              </a:rPr>
              <a:t>Adil's Figma work should make the product feel premium, simple, and ready for mobile use.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="" xmlns:a16="http://schemas.microsoft.com/office/drawing/2014/main" id="{CB3310E3-8805-48A7-B53A-839C4E578572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24003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C351FF0-96F0-44C3-9E70-4AE60DDD5337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66675" cy="114300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6DAC9C29-399A-441D-A9DB-47C2E9EA3B9A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Visual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0FE232EB-48BF-4641-A0BB-C2576256A072}"/>
              </a:ext>
            </a:extLst>
          </p:cNvPr>
          <p:cNvSpPr>
            <a:spLocks noGrp="1"/>
          </p:cNvSpPr>
          <p:nvPr/>
        </p:nvSpPr>
        <p:spPr>
          <a:xfrm>
            <a:off x="742950" y="1733550"/>
            <a:ext cx="2057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Premium UF brand feel with maroon, warm neutrals, selective gold accents, clean typography, and strong contrast.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="" xmlns:a16="http://schemas.microsoft.com/office/drawing/2014/main" id="{E21A7C70-DCA8-44CA-8B84-204570CFAFAE}"/>
              </a:ext>
            </a:extLst>
          </p:cNvPr>
          <p:cNvSpPr>
            <a:spLocks noGrp="1"/>
          </p:cNvSpPr>
          <p:nvPr/>
        </p:nvSpPr>
        <p:spPr>
          <a:xfrm>
            <a:off x="3371850" y="1257300"/>
            <a:ext cx="24003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F2AC9C4-42B5-4737-9F7A-108A6E90BA2C}"/>
              </a:ext>
            </a:extLst>
          </p:cNvPr>
          <p:cNvSpPr>
            <a:spLocks noGrp="1"/>
          </p:cNvSpPr>
          <p:nvPr/>
        </p:nvSpPr>
        <p:spPr>
          <a:xfrm>
            <a:off x="3371850" y="1257300"/>
            <a:ext cx="66675" cy="1143000"/>
          </a:xfrm>
          <a:prstGeom prst="rect">
            <a:avLst/>
          </a:prstGeom>
          <a:solidFill>
            <a:srgbClr val="245F8F"/>
          </a:solidFill>
          <a:ln w="0">
            <a:solidFill>
              <a:srgbClr val="245F8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3B6494D-ABA0-4E55-98AD-A128E247DC58}"/>
              </a:ext>
            </a:extLst>
          </p:cNvPr>
          <p:cNvSpPr>
            <a:spLocks noGrp="1"/>
          </p:cNvSpPr>
          <p:nvPr/>
        </p:nvSpPr>
        <p:spPr>
          <a:xfrm>
            <a:off x="3562350" y="14097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Key screens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EC6395DB-6303-4012-AF90-7F960A715982}"/>
              </a:ext>
            </a:extLst>
          </p:cNvPr>
          <p:cNvSpPr>
            <a:spLocks noGrp="1"/>
          </p:cNvSpPr>
          <p:nvPr/>
        </p:nvSpPr>
        <p:spPr>
          <a:xfrm>
            <a:off x="3562350" y="1733550"/>
            <a:ext cx="2057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Onboarding, login, profile setup, assessment screens, UF Index result, dashboard, Index Plus, and coach CTA.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="" xmlns:a16="http://schemas.microsoft.com/office/drawing/2014/main" id="{CE7F45D9-9A10-429C-A5E9-3B2B42B205F7}"/>
              </a:ext>
            </a:extLst>
          </p:cNvPr>
          <p:cNvSpPr>
            <a:spLocks noGrp="1"/>
          </p:cNvSpPr>
          <p:nvPr/>
        </p:nvSpPr>
        <p:spPr>
          <a:xfrm>
            <a:off x="6191250" y="1257300"/>
            <a:ext cx="24003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93B3656D-4539-42AD-AA6F-45716036F2B1}"/>
              </a:ext>
            </a:extLst>
          </p:cNvPr>
          <p:cNvSpPr>
            <a:spLocks noGrp="1"/>
          </p:cNvSpPr>
          <p:nvPr/>
        </p:nvSpPr>
        <p:spPr>
          <a:xfrm>
            <a:off x="6191250" y="1257300"/>
            <a:ext cx="66675" cy="1143000"/>
          </a:xfrm>
          <a:prstGeom prst="rect">
            <a:avLst/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25E6381E-0B96-4C48-9667-F0245488AD31}"/>
              </a:ext>
            </a:extLst>
          </p:cNvPr>
          <p:cNvSpPr>
            <a:spLocks noGrp="1"/>
          </p:cNvSpPr>
          <p:nvPr/>
        </p:nvSpPr>
        <p:spPr>
          <a:xfrm>
            <a:off x="6381750" y="1409700"/>
            <a:ext cx="2076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Mobile components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246929BE-52E5-4852-805D-7B18BCBBEAA7}"/>
              </a:ext>
            </a:extLst>
          </p:cNvPr>
          <p:cNvSpPr>
            <a:spLocks noGrp="1"/>
          </p:cNvSpPr>
          <p:nvPr/>
        </p:nvSpPr>
        <p:spPr>
          <a:xfrm>
            <a:off x="6381750" y="1733550"/>
            <a:ext cx="2057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Progress indicators, input cards, score bands, insight panels, charts, coach buttons, and simple navigation.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CB8E7B8A-80FA-4409-B11E-9996B6CB26BC}"/>
              </a:ext>
            </a:extLst>
          </p:cNvPr>
          <p:cNvSpPr>
            <a:spLocks noGrp="1"/>
          </p:cNvSpPr>
          <p:nvPr/>
        </p:nvSpPr>
        <p:spPr>
          <a:xfrm>
            <a:off x="704850" y="31242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681B22"/>
                </a:solidFill>
              </a:defRPr>
            </a:pPr>
            <a:r>
              <a:rPr sz="1800" b="1">
                <a:solidFill>
                  <a:srgbClr val="681B22"/>
                </a:solidFill>
              </a:rPr>
              <a:t>Figma deliverable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6CFE5F99-7A0F-4FF8-B54F-C4738404A86A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1412"/>
                </a:solidFill>
              </a:defRPr>
            </a:pPr>
            <a:r>
              <a:rPr sz="1425" b="0">
                <a:solidFill>
                  <a:srgbClr val="171412"/>
                </a:solidFill>
              </a:rPr>
              <a:t>- Clickable prototype for the main user flow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7CF6A27B-2234-4190-9E3E-0EC3120312D8}"/>
              </a:ext>
            </a:extLst>
          </p:cNvPr>
          <p:cNvSpPr>
            <a:spLocks noGrp="1"/>
          </p:cNvSpPr>
          <p:nvPr/>
        </p:nvSpPr>
        <p:spPr>
          <a:xfrm>
            <a:off x="714348" y="3857634"/>
            <a:ext cx="7334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1412"/>
                </a:solidFill>
              </a:defRPr>
            </a:pPr>
            <a:r>
              <a:rPr sz="1425" b="0">
                <a:solidFill>
                  <a:srgbClr val="171412"/>
                </a:solidFill>
              </a:rPr>
              <a:t>- Responsive mobile-first layouts</a:t>
            </a:r>
          </a:p>
        </p:txBody>
      </p:sp>
    </p:spTree>
    <p:extLst>
      <p:ext uri="{BB962C8B-B14F-4D97-AF65-F5344CB8AC3E}">
        <p14:creationId xmlns="" xmlns:p14="http://schemas.microsoft.com/office/powerpoint/2010/main" val="902812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4294967295">
            <a:extLst>
              <a:ext uri="{FF2B5EF4-FFF2-40B4-BE49-F238E27FC236}">
                <a16:creationId xmlns="" xmlns:a16="http://schemas.microsoft.com/office/drawing/2014/main" id="{D5CE270F-6AB3-4C0E-BF1D-43F870A42A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7C65429-FB82-4CB0-8BB6-B1CB750A340E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9144000" cy="47625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5173BC77-7DB7-4B1A-B8A7-4AB452C7C724}"/>
              </a:ext>
            </a:extLst>
          </p:cNvPr>
          <p:cNvSpPr>
            <a:spLocks noGrp="1"/>
          </p:cNvSpPr>
          <p:nvPr/>
        </p:nvSpPr>
        <p:spPr>
          <a:xfrm>
            <a:off x="7905750" y="219075"/>
            <a:ext cx="1238250" cy="4924425"/>
          </a:xfrm>
          <a:prstGeom prst="rect">
            <a:avLst/>
          </a:prstGeom>
          <a:solidFill>
            <a:srgbClr val="EFE7DC"/>
          </a:solidFill>
          <a:ln w="0">
            <a:solidFill>
              <a:srgbClr val="EFE7D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038604C-2788-4FD9-A853-BA75AD167EB3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9A8F84"/>
                </a:solidFill>
              </a:defRPr>
            </a:pPr>
            <a:r>
              <a:rPr sz="975" b="0">
                <a:solidFill>
                  <a:srgbClr val="9A8F84"/>
                </a:solidFill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F0A22C39-D385-4754-84C2-8B180FD0650A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681B22"/>
                </a:solidFill>
              </a:defRPr>
            </a:pPr>
            <a:r>
              <a:rPr sz="2400" b="1">
                <a:solidFill>
                  <a:srgbClr val="681B22"/>
                </a:solidFill>
              </a:rPr>
              <a:t>User experience of the app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DBF79D3-B80B-49C4-9FB3-E5D27D1578AC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5650"/>
                </a:solidFill>
              </a:defRPr>
            </a:pPr>
            <a:r>
              <a:rPr sz="1125" b="0">
                <a:solidFill>
                  <a:srgbClr val="5D5650"/>
                </a:solidFill>
              </a:rPr>
              <a:t>The UX should explain how a user experiences and interacts with UF Index from first open to next action.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="" xmlns:a16="http://schemas.microsoft.com/office/drawing/2014/main" id="{51A7ECA1-A883-45E3-9F7A-8A52FC73CC5B}"/>
              </a:ext>
            </a:extLst>
          </p:cNvPr>
          <p:cNvSpPr>
            <a:spLocks noGrp="1"/>
          </p:cNvSpPr>
          <p:nvPr/>
        </p:nvSpPr>
        <p:spPr>
          <a:xfrm>
            <a:off x="438150" y="1428750"/>
            <a:ext cx="1298575" cy="628650"/>
          </a:xfrm>
          <a:prstGeom prst="roundRect">
            <a:avLst>
              <a:gd name="adj" fmla="val 12121"/>
            </a:avLst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162F1EF-12F0-4DF0-A62F-64FCC66DBC62}"/>
              </a:ext>
            </a:extLst>
          </p:cNvPr>
          <p:cNvSpPr>
            <a:spLocks noGrp="1"/>
          </p:cNvSpPr>
          <p:nvPr/>
        </p:nvSpPr>
        <p:spPr>
          <a:xfrm>
            <a:off x="533400" y="1590675"/>
            <a:ext cx="11080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Welcome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="" xmlns:a16="http://schemas.microsoft.com/office/drawing/2014/main" id="{8629FFFA-6BD1-4742-B434-74E355F41CB8}"/>
              </a:ext>
            </a:extLst>
          </p:cNvPr>
          <p:cNvSpPr>
            <a:spLocks noGrp="1"/>
          </p:cNvSpPr>
          <p:nvPr/>
        </p:nvSpPr>
        <p:spPr>
          <a:xfrm>
            <a:off x="1831975" y="1428750"/>
            <a:ext cx="1298575" cy="628650"/>
          </a:xfrm>
          <a:prstGeom prst="roundRect">
            <a:avLst>
              <a:gd name="adj" fmla="val 12121"/>
            </a:avLst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ECFA0DAE-4241-4273-BB38-2C0D026F7471}"/>
              </a:ext>
            </a:extLst>
          </p:cNvPr>
          <p:cNvSpPr>
            <a:spLocks noGrp="1"/>
          </p:cNvSpPr>
          <p:nvPr/>
        </p:nvSpPr>
        <p:spPr>
          <a:xfrm>
            <a:off x="1927225" y="1590675"/>
            <a:ext cx="11080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="" xmlns:a16="http://schemas.microsoft.com/office/drawing/2014/main" id="{5685685A-2950-4398-9C19-68DC254EFEA2}"/>
              </a:ext>
            </a:extLst>
          </p:cNvPr>
          <p:cNvSpPr>
            <a:spLocks noGrp="1"/>
          </p:cNvSpPr>
          <p:nvPr/>
        </p:nvSpPr>
        <p:spPr>
          <a:xfrm>
            <a:off x="3225800" y="1428750"/>
            <a:ext cx="1298575" cy="628650"/>
          </a:xfrm>
          <a:prstGeom prst="roundRect">
            <a:avLst>
              <a:gd name="adj" fmla="val 12121"/>
            </a:avLst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9976FC8-F8E9-4845-9CF4-E8456619D70F}"/>
              </a:ext>
            </a:extLst>
          </p:cNvPr>
          <p:cNvSpPr>
            <a:spLocks noGrp="1"/>
          </p:cNvSpPr>
          <p:nvPr/>
        </p:nvSpPr>
        <p:spPr>
          <a:xfrm>
            <a:off x="3321050" y="1590675"/>
            <a:ext cx="11080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Guided inputs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F7EC82E6-880F-43CC-9D7C-88FB04D3BA5C}"/>
              </a:ext>
            </a:extLst>
          </p:cNvPr>
          <p:cNvSpPr>
            <a:spLocks noGrp="1"/>
          </p:cNvSpPr>
          <p:nvPr/>
        </p:nvSpPr>
        <p:spPr>
          <a:xfrm>
            <a:off x="4619625" y="1428750"/>
            <a:ext cx="1298575" cy="628650"/>
          </a:xfrm>
          <a:prstGeom prst="roundRect">
            <a:avLst>
              <a:gd name="adj" fmla="val 12121"/>
            </a:avLst>
          </a:prstGeom>
          <a:solidFill>
            <a:srgbClr val="146B68"/>
          </a:solidFill>
          <a:ln w="0">
            <a:solidFill>
              <a:srgbClr val="146B6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DA31AE9B-DC00-4618-A56F-677882AEB7DD}"/>
              </a:ext>
            </a:extLst>
          </p:cNvPr>
          <p:cNvSpPr>
            <a:spLocks noGrp="1"/>
          </p:cNvSpPr>
          <p:nvPr/>
        </p:nvSpPr>
        <p:spPr>
          <a:xfrm>
            <a:off x="4714875" y="1590675"/>
            <a:ext cx="11080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Score reveal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="" xmlns:a16="http://schemas.microsoft.com/office/drawing/2014/main" id="{6C88EF00-2EFB-4E20-9470-BA5F83D971ED}"/>
              </a:ext>
            </a:extLst>
          </p:cNvPr>
          <p:cNvSpPr>
            <a:spLocks noGrp="1"/>
          </p:cNvSpPr>
          <p:nvPr/>
        </p:nvSpPr>
        <p:spPr>
          <a:xfrm>
            <a:off x="6013450" y="1428750"/>
            <a:ext cx="1298575" cy="628650"/>
          </a:xfrm>
          <a:prstGeom prst="roundRect">
            <a:avLst>
              <a:gd name="adj" fmla="val 12121"/>
            </a:avLst>
          </a:prstGeom>
          <a:solidFill>
            <a:srgbClr val="245F8F"/>
          </a:solidFill>
          <a:ln w="0">
            <a:solidFill>
              <a:srgbClr val="245F8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C02FD553-961B-4900-BDAA-A8AAF83CB679}"/>
              </a:ext>
            </a:extLst>
          </p:cNvPr>
          <p:cNvSpPr>
            <a:spLocks noGrp="1"/>
          </p:cNvSpPr>
          <p:nvPr/>
        </p:nvSpPr>
        <p:spPr>
          <a:xfrm>
            <a:off x="6108700" y="1590675"/>
            <a:ext cx="11080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Insights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="" xmlns:a16="http://schemas.microsoft.com/office/drawing/2014/main" id="{CC02913B-12B6-4716-B94D-6881C00C7051}"/>
              </a:ext>
            </a:extLst>
          </p:cNvPr>
          <p:cNvSpPr>
            <a:spLocks noGrp="1"/>
          </p:cNvSpPr>
          <p:nvPr/>
        </p:nvSpPr>
        <p:spPr>
          <a:xfrm>
            <a:off x="7407275" y="1428750"/>
            <a:ext cx="1298575" cy="628650"/>
          </a:xfrm>
          <a:prstGeom prst="roundRect">
            <a:avLst>
              <a:gd name="adj" fmla="val 12121"/>
            </a:avLst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B34C97B5-904B-47F8-A3DB-CCB8A9DC9948}"/>
              </a:ext>
            </a:extLst>
          </p:cNvPr>
          <p:cNvSpPr>
            <a:spLocks noGrp="1"/>
          </p:cNvSpPr>
          <p:nvPr/>
        </p:nvSpPr>
        <p:spPr>
          <a:xfrm>
            <a:off x="7502525" y="1590675"/>
            <a:ext cx="11080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Next action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="" xmlns:a16="http://schemas.microsoft.com/office/drawing/2014/main" id="{6524DD91-9BA1-4CF9-B18B-8CC9B24068EB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23431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722D8755-3880-4DA3-946C-5F534E126A22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66675" cy="1162050"/>
          </a:xfrm>
          <a:prstGeom prst="rect">
            <a:avLst/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E1F4B7A5-FA34-43F2-A1CC-4AE6783254D8}"/>
              </a:ext>
            </a:extLst>
          </p:cNvPr>
          <p:cNvSpPr>
            <a:spLocks noGrp="1"/>
          </p:cNvSpPr>
          <p:nvPr/>
        </p:nvSpPr>
        <p:spPr>
          <a:xfrm>
            <a:off x="857250" y="293370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Make it easy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E49F99C5-5751-4C15-96F7-E8D3605A0C38}"/>
              </a:ext>
            </a:extLst>
          </p:cNvPr>
          <p:cNvSpPr>
            <a:spLocks noGrp="1"/>
          </p:cNvSpPr>
          <p:nvPr/>
        </p:nvSpPr>
        <p:spPr>
          <a:xfrm>
            <a:off x="857250" y="3257550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Short screens, clear progress, simple questions, helpful microcopy, and minimal cognitive load.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="" xmlns:a16="http://schemas.microsoft.com/office/drawing/2014/main" id="{B1D5C7E1-FD79-4F88-8587-469F95F03F6B}"/>
              </a:ext>
            </a:extLst>
          </p:cNvPr>
          <p:cNvSpPr>
            <a:spLocks noGrp="1"/>
          </p:cNvSpPr>
          <p:nvPr/>
        </p:nvSpPr>
        <p:spPr>
          <a:xfrm>
            <a:off x="3390900" y="2781300"/>
            <a:ext cx="23431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FB3B41A9-2D08-4121-9F2C-35608DA220CF}"/>
              </a:ext>
            </a:extLst>
          </p:cNvPr>
          <p:cNvSpPr>
            <a:spLocks noGrp="1"/>
          </p:cNvSpPr>
          <p:nvPr/>
        </p:nvSpPr>
        <p:spPr>
          <a:xfrm>
            <a:off x="3390900" y="2781300"/>
            <a:ext cx="66675" cy="1162050"/>
          </a:xfrm>
          <a:prstGeom prst="rect">
            <a:avLst/>
          </a:prstGeom>
          <a:solidFill>
            <a:srgbClr val="245F8F"/>
          </a:solidFill>
          <a:ln w="0">
            <a:solidFill>
              <a:srgbClr val="245F8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8670C4F9-EB6D-4DF6-9655-21F727B5F633}"/>
              </a:ext>
            </a:extLst>
          </p:cNvPr>
          <p:cNvSpPr>
            <a:spLocks noGrp="1"/>
          </p:cNvSpPr>
          <p:nvPr/>
        </p:nvSpPr>
        <p:spPr>
          <a:xfrm>
            <a:off x="3581400" y="293370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Make it meaningful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67509CAE-0199-497D-889F-6FDDD7D53F07}"/>
              </a:ext>
            </a:extLst>
          </p:cNvPr>
          <p:cNvSpPr>
            <a:spLocks noGrp="1"/>
          </p:cNvSpPr>
          <p:nvPr/>
        </p:nvSpPr>
        <p:spPr>
          <a:xfrm>
            <a:off x="3581400" y="3257550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lang="en-IN" sz="1013" b="0" dirty="0">
                <a:solidFill>
                  <a:srgbClr val="5D5650"/>
                </a:solidFill>
              </a:rPr>
              <a:t>Give </a:t>
            </a:r>
            <a:r>
              <a:rPr lang="en-IN" sz="1013" dirty="0">
                <a:solidFill>
                  <a:srgbClr val="5D5650"/>
                </a:solidFill>
              </a:rPr>
              <a:t>Insights about the score </a:t>
            </a:r>
            <a:r>
              <a:rPr sz="1013" b="0">
                <a:solidFill>
                  <a:srgbClr val="5D5650"/>
                </a:solidFill>
              </a:rPr>
              <a:t>, why it matters, and what the user should focus on next.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="" xmlns:a16="http://schemas.microsoft.com/office/drawing/2014/main" id="{6B8B14DA-2335-426D-B861-09563C7B835E}"/>
              </a:ext>
            </a:extLst>
          </p:cNvPr>
          <p:cNvSpPr>
            <a:spLocks noGrp="1"/>
          </p:cNvSpPr>
          <p:nvPr/>
        </p:nvSpPr>
        <p:spPr>
          <a:xfrm>
            <a:off x="6115050" y="2781300"/>
            <a:ext cx="234315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90535318-B7A2-4561-B95D-5EB20CEC0BB6}"/>
              </a:ext>
            </a:extLst>
          </p:cNvPr>
          <p:cNvSpPr>
            <a:spLocks noGrp="1"/>
          </p:cNvSpPr>
          <p:nvPr/>
        </p:nvSpPr>
        <p:spPr>
          <a:xfrm>
            <a:off x="6115050" y="2781300"/>
            <a:ext cx="66675" cy="1162050"/>
          </a:xfrm>
          <a:prstGeom prst="rect">
            <a:avLst/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AC1C8CF1-0134-4DE1-BE44-CA50C2E7AD5F}"/>
              </a:ext>
            </a:extLst>
          </p:cNvPr>
          <p:cNvSpPr>
            <a:spLocks noGrp="1"/>
          </p:cNvSpPr>
          <p:nvPr/>
        </p:nvSpPr>
        <p:spPr>
          <a:xfrm>
            <a:off x="6305550" y="293370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Make it actionable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14AD8B0F-563C-4458-818E-3AAE7BFFA871}"/>
              </a:ext>
            </a:extLst>
          </p:cNvPr>
          <p:cNvSpPr>
            <a:spLocks noGrp="1"/>
          </p:cNvSpPr>
          <p:nvPr/>
        </p:nvSpPr>
        <p:spPr>
          <a:xfrm>
            <a:off x="6305550" y="3257550"/>
            <a:ext cx="200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Guide users toward UF Index Plus, personalized recommendations, coach support, or program enrollment.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B2ECCF45-8BBC-42C4-8FAA-19E001541A29}"/>
              </a:ext>
            </a:extLst>
          </p:cNvPr>
          <p:cNvSpPr>
            <a:spLocks noGrp="1"/>
          </p:cNvSpPr>
          <p:nvPr/>
        </p:nvSpPr>
        <p:spPr>
          <a:xfrm>
            <a:off x="838200" y="4229100"/>
            <a:ext cx="733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681B22"/>
                </a:solidFill>
              </a:defRPr>
            </a:pPr>
            <a:r>
              <a:rPr sz="1350" b="1">
                <a:solidFill>
                  <a:srgbClr val="681B22"/>
                </a:solidFill>
              </a:rPr>
              <a:t>UX success measure: users should complete the assessment confidently and know exactly what to do after seeing their score.</a:t>
            </a:r>
          </a:p>
        </p:txBody>
      </p:sp>
    </p:spTree>
    <p:extLst>
      <p:ext uri="{BB962C8B-B14F-4D97-AF65-F5344CB8AC3E}">
        <p14:creationId xmlns="" xmlns:p14="http://schemas.microsoft.com/office/powerpoint/2010/main" val="179123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294967295">
            <a:extLst>
              <a:ext uri="{FF2B5EF4-FFF2-40B4-BE49-F238E27FC236}">
                <a16:creationId xmlns="" xmlns:a16="http://schemas.microsoft.com/office/drawing/2014/main" id="{9C68D5D6-21A7-4C3B-ADD4-A6F822657E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662E5C8-C9EB-42CD-B823-1637BEBAABE4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9144000" cy="47625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AA07FF6-228F-489A-AAC9-98D2281C55AE}"/>
              </a:ext>
            </a:extLst>
          </p:cNvPr>
          <p:cNvSpPr>
            <a:spLocks noGrp="1"/>
          </p:cNvSpPr>
          <p:nvPr/>
        </p:nvSpPr>
        <p:spPr>
          <a:xfrm>
            <a:off x="7905750" y="219075"/>
            <a:ext cx="1238250" cy="4924425"/>
          </a:xfrm>
          <a:prstGeom prst="rect">
            <a:avLst/>
          </a:prstGeom>
          <a:solidFill>
            <a:srgbClr val="EFE7DC"/>
          </a:solidFill>
          <a:ln w="0">
            <a:solidFill>
              <a:srgbClr val="EFE7D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66C96B1-689C-4E98-8ED9-7AFDE2A6D71E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9A8F84"/>
                </a:solidFill>
              </a:defRPr>
            </a:pPr>
            <a:r>
              <a:rPr sz="975" b="0">
                <a:solidFill>
                  <a:srgbClr val="9A8F84"/>
                </a:solidFill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C3A924A6-ED17-4E4A-8CE7-ECB6D1E0B358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681B22"/>
                </a:solidFill>
              </a:defRPr>
            </a:pPr>
            <a:r>
              <a:rPr sz="2400" b="1">
                <a:solidFill>
                  <a:srgbClr val="681B22"/>
                </a:solidFill>
              </a:rPr>
              <a:t>UI and UX principles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C4D9778D-19FD-4AF5-AEFF-D10FF6188EFB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412"/>
                </a:solidFill>
              </a:defRPr>
            </a:pPr>
            <a:r>
              <a:rPr sz="1500" b="0">
                <a:solidFill>
                  <a:srgbClr val="171412"/>
                </a:solidFill>
              </a:rPr>
              <a:t>- Mobile-first flows that feel calm, premium, and fast.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E4948551-E546-4F59-9DEA-5F6FB85D7D16}"/>
              </a:ext>
            </a:extLst>
          </p:cNvPr>
          <p:cNvSpPr>
            <a:spLocks noGrp="1"/>
          </p:cNvSpPr>
          <p:nvPr/>
        </p:nvSpPr>
        <p:spPr>
          <a:xfrm>
            <a:off x="723900" y="1781175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412"/>
                </a:solidFill>
              </a:defRPr>
            </a:pPr>
            <a:r>
              <a:rPr sz="1500" b="0">
                <a:solidFill>
                  <a:srgbClr val="171412"/>
                </a:solidFill>
              </a:rPr>
              <a:t>- Guided assessment screens with progress, plain language, and low friction.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78A757B-0DF5-46FF-82B5-75F1E174380D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412"/>
                </a:solidFill>
              </a:defRPr>
            </a:pPr>
            <a:r>
              <a:rPr sz="1500" b="0">
                <a:solidFill>
                  <a:srgbClr val="171412"/>
                </a:solidFill>
              </a:rPr>
              <a:t>- Clear score explanation so users understand what the result means.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AD15EED-9B56-4C3A-9823-C8813610041A}"/>
              </a:ext>
            </a:extLst>
          </p:cNvPr>
          <p:cNvSpPr>
            <a:spLocks noGrp="1"/>
          </p:cNvSpPr>
          <p:nvPr/>
        </p:nvSpPr>
        <p:spPr>
          <a:xfrm>
            <a:off x="723900" y="2524125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412"/>
                </a:solidFill>
              </a:defRPr>
            </a:pPr>
            <a:r>
              <a:rPr sz="1500" b="0">
                <a:solidFill>
                  <a:srgbClr val="171412"/>
                </a:solidFill>
              </a:rPr>
              <a:t>- Personalized dashboard that shows next best action, not only data.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49115E13-8CF7-4707-AC43-A38AD326C468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412"/>
                </a:solidFill>
              </a:defRPr>
            </a:pPr>
            <a:r>
              <a:rPr sz="1500" b="0">
                <a:solidFill>
                  <a:srgbClr val="171412"/>
                </a:solidFill>
              </a:rPr>
              <a:t>- Accessible typography, strong contrast, and consistent UF brand behavior.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EB8163D-CA87-4E10-A5BC-40120814ACD1}"/>
              </a:ext>
            </a:extLst>
          </p:cNvPr>
          <p:cNvSpPr>
            <a:spLocks noGrp="1"/>
          </p:cNvSpPr>
          <p:nvPr/>
        </p:nvSpPr>
        <p:spPr>
          <a:xfrm>
            <a:off x="723900" y="3267075"/>
            <a:ext cx="723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1412"/>
                </a:solidFill>
              </a:defRPr>
            </a:pPr>
            <a:r>
              <a:rPr sz="1500" b="0">
                <a:solidFill>
                  <a:srgbClr val="171412"/>
                </a:solidFill>
              </a:rPr>
              <a:t>- Prototype in Figma before backend decisions lock the interaction model.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B7323781-E628-4D5D-AE47-903E6D0513C5}"/>
              </a:ext>
            </a:extLst>
          </p:cNvPr>
          <p:cNvSpPr>
            <a:spLocks noGrp="1"/>
          </p:cNvSpPr>
          <p:nvPr/>
        </p:nvSpPr>
        <p:spPr>
          <a:xfrm>
            <a:off x="1181100" y="3905250"/>
            <a:ext cx="6319858" cy="102395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060B3106-AD57-49E0-8B96-60E4A56964D2}"/>
              </a:ext>
            </a:extLst>
          </p:cNvPr>
          <p:cNvSpPr>
            <a:spLocks noGrp="1"/>
          </p:cNvSpPr>
          <p:nvPr/>
        </p:nvSpPr>
        <p:spPr>
          <a:xfrm>
            <a:off x="1181100" y="3905250"/>
            <a:ext cx="104752" cy="952516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CCAF1093-A929-4428-B1B7-788574AFD715}"/>
              </a:ext>
            </a:extLst>
          </p:cNvPr>
          <p:cNvSpPr>
            <a:spLocks noGrp="1"/>
          </p:cNvSpPr>
          <p:nvPr/>
        </p:nvSpPr>
        <p:spPr>
          <a:xfrm>
            <a:off x="1371600" y="4057650"/>
            <a:ext cx="586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Design focus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5B211701-738D-4926-9D9F-A3F878AB0288}"/>
              </a:ext>
            </a:extLst>
          </p:cNvPr>
          <p:cNvSpPr>
            <a:spLocks noGrp="1"/>
          </p:cNvSpPr>
          <p:nvPr/>
        </p:nvSpPr>
        <p:spPr>
          <a:xfrm>
            <a:off x="1371600" y="4381500"/>
            <a:ext cx="58483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World-class UI means the product should look premium. World-class UX means the user should feel guided, clear, and ready to act.</a:t>
            </a:r>
          </a:p>
        </p:txBody>
      </p:sp>
    </p:spTree>
    <p:extLst>
      <p:ext uri="{BB962C8B-B14F-4D97-AF65-F5344CB8AC3E}">
        <p14:creationId xmlns="" xmlns:p14="http://schemas.microsoft.com/office/powerpoint/2010/main" val="2108988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4294967295">
            <a:extLst>
              <a:ext uri="{FF2B5EF4-FFF2-40B4-BE49-F238E27FC236}">
                <a16:creationId xmlns="" xmlns:a16="http://schemas.microsoft.com/office/drawing/2014/main" id="{EFC03A38-CC80-4617-A9C2-DADFED75BB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19B43FA-94F8-42F1-AE6E-0B6B0F8AFFBE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9144000" cy="47625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63707A82-295D-45C3-AA58-1443145A2EFB}"/>
              </a:ext>
            </a:extLst>
          </p:cNvPr>
          <p:cNvSpPr>
            <a:spLocks noGrp="1"/>
          </p:cNvSpPr>
          <p:nvPr/>
        </p:nvSpPr>
        <p:spPr>
          <a:xfrm>
            <a:off x="7905750" y="219075"/>
            <a:ext cx="1238250" cy="4924425"/>
          </a:xfrm>
          <a:prstGeom prst="rect">
            <a:avLst/>
          </a:prstGeom>
          <a:solidFill>
            <a:srgbClr val="EFE7DC"/>
          </a:solidFill>
          <a:ln w="0">
            <a:solidFill>
              <a:srgbClr val="EFE7D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8E94B9D-D436-4133-B04D-E3B0C76F9903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9A8F84"/>
                </a:solidFill>
              </a:defRPr>
            </a:pPr>
            <a:r>
              <a:rPr sz="975" b="0">
                <a:solidFill>
                  <a:srgbClr val="9A8F84"/>
                </a:solidFill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4C2BFF-E0C0-4EA1-8308-CBAF450FC71F}"/>
              </a:ext>
            </a:extLst>
          </p:cNvPr>
          <p:cNvSpPr>
            <a:spLocks noGrp="1"/>
          </p:cNvSpPr>
          <p:nvPr/>
        </p:nvSpPr>
        <p:spPr>
          <a:xfrm>
            <a:off x="438150" y="457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681B22"/>
                </a:solidFill>
              </a:defRPr>
            </a:pPr>
            <a:r>
              <a:rPr sz="2400" b="1">
                <a:solidFill>
                  <a:srgbClr val="681B22"/>
                </a:solidFill>
              </a:rPr>
              <a:t>Ownership for the build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49F82D91-027D-45DD-AF40-76C8727B072B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5650"/>
                </a:solidFill>
              </a:defRPr>
            </a:pPr>
            <a:r>
              <a:rPr sz="1125" b="0">
                <a:solidFill>
                  <a:srgbClr val="5D5650"/>
                </a:solidFill>
              </a:rPr>
              <a:t>The meeting should make clear who owns design, architecture, backend, and implementation decisions.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="" xmlns:a16="http://schemas.microsoft.com/office/drawing/2014/main" id="{AA7EC459-09FD-4676-84B7-6262FC31BC74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924050" cy="22860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239E711-8B79-496E-890A-A22FD5917BC9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66675" cy="2286000"/>
          </a:xfrm>
          <a:prstGeom prst="rect">
            <a:avLst/>
          </a:prstGeom>
          <a:solidFill>
            <a:srgbClr val="C92812"/>
          </a:solidFill>
          <a:ln w="0">
            <a:solidFill>
              <a:srgbClr val="C9281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72F115B-6029-4D55-9B32-237B87B79A85}"/>
              </a:ext>
            </a:extLst>
          </p:cNvPr>
          <p:cNvSpPr>
            <a:spLocks noGrp="1"/>
          </p:cNvSpPr>
          <p:nvPr/>
        </p:nvSpPr>
        <p:spPr>
          <a:xfrm>
            <a:off x="647700" y="1409700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Ad</a:t>
            </a:r>
            <a:r>
              <a:rPr lang="en-IN" sz="1350" b="1" dirty="0">
                <a:solidFill>
                  <a:srgbClr val="171412"/>
                </a:solidFill>
              </a:rPr>
              <a:t>e</a:t>
            </a:r>
            <a:r>
              <a:rPr sz="1350" b="1">
                <a:solidFill>
                  <a:srgbClr val="171412"/>
                </a:solidFill>
              </a:rPr>
              <a:t>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7810F158-CF0F-4081-8A19-CE14AA49F78E}"/>
              </a:ext>
            </a:extLst>
          </p:cNvPr>
          <p:cNvSpPr>
            <a:spLocks noGrp="1"/>
          </p:cNvSpPr>
          <p:nvPr/>
        </p:nvSpPr>
        <p:spPr>
          <a:xfrm>
            <a:off x="647700" y="1733550"/>
            <a:ext cx="158115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Figma front-end</a:t>
            </a:r>
          </a:p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Design system</a:t>
            </a:r>
          </a:p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Screen flows</a:t>
            </a:r>
          </a:p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Clickable prototype</a:t>
            </a:r>
          </a:p>
          <a:p>
            <a:pPr algn="l">
              <a:defRPr sz="1013" b="0">
                <a:solidFill>
                  <a:srgbClr val="5D5650"/>
                </a:solidFill>
              </a:defRPr>
            </a:pPr>
            <a:r>
              <a:rPr sz="1013" b="0">
                <a:solidFill>
                  <a:srgbClr val="5D5650"/>
                </a:solidFill>
              </a:rPr>
              <a:t>UI polish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="" xmlns:a16="http://schemas.microsoft.com/office/drawing/2014/main" id="{369FE834-D5D6-403C-9ABD-A8141B598F89}"/>
              </a:ext>
            </a:extLst>
          </p:cNvPr>
          <p:cNvSpPr>
            <a:spLocks noGrp="1"/>
          </p:cNvSpPr>
          <p:nvPr/>
        </p:nvSpPr>
        <p:spPr>
          <a:xfrm>
            <a:off x="2609850" y="1257300"/>
            <a:ext cx="1924050" cy="22860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ED5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F7B2608-97DA-4D4E-9208-263D822FF169}"/>
              </a:ext>
            </a:extLst>
          </p:cNvPr>
          <p:cNvSpPr>
            <a:spLocks noGrp="1"/>
          </p:cNvSpPr>
          <p:nvPr/>
        </p:nvSpPr>
        <p:spPr>
          <a:xfrm>
            <a:off x="2609850" y="1257300"/>
            <a:ext cx="66675" cy="2286000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1C88D0C5-1BA1-42DE-9650-8DAA50EAF0C0}"/>
              </a:ext>
            </a:extLst>
          </p:cNvPr>
          <p:cNvSpPr>
            <a:spLocks noGrp="1"/>
          </p:cNvSpPr>
          <p:nvPr/>
        </p:nvSpPr>
        <p:spPr>
          <a:xfrm>
            <a:off x="2800350" y="1409700"/>
            <a:ext cx="1600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412"/>
                </a:solidFill>
              </a:defRPr>
            </a:pPr>
            <a:r>
              <a:rPr sz="1350" b="1">
                <a:solidFill>
                  <a:srgbClr val="171412"/>
                </a:solidFill>
              </a:rPr>
              <a:t>Sri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D74D128-1D32-4102-9E7F-BEF0BABE8D3F}"/>
              </a:ext>
            </a:extLst>
          </p:cNvPr>
          <p:cNvSpPr>
            <a:spLocks noGrp="1"/>
          </p:cNvSpPr>
          <p:nvPr/>
        </p:nvSpPr>
        <p:spPr>
          <a:xfrm>
            <a:off x="2800350" y="1733550"/>
            <a:ext cx="158115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5D5650"/>
                </a:solidFill>
              </a:defRPr>
            </a:pPr>
            <a:r>
              <a:rPr lang="en-IN" sz="1013" dirty="0">
                <a:solidFill>
                  <a:srgbClr val="5D5650"/>
                </a:solidFill>
              </a:rPr>
              <a:t>Backend Plan </a:t>
            </a:r>
          </a:p>
          <a:p>
            <a:pPr algn="l">
              <a:defRPr sz="1013" b="0">
                <a:solidFill>
                  <a:srgbClr val="5D5650"/>
                </a:solidFill>
              </a:defRPr>
            </a:pPr>
            <a:r>
              <a:rPr lang="en-IN" sz="1013" dirty="0">
                <a:solidFill>
                  <a:srgbClr val="5D5650"/>
                </a:solidFill>
              </a:rPr>
              <a:t>Testing </a:t>
            </a:r>
          </a:p>
          <a:p>
            <a:pPr algn="l">
              <a:defRPr sz="1013" b="0">
                <a:solidFill>
                  <a:srgbClr val="5D5650"/>
                </a:solidFill>
              </a:defRPr>
            </a:pPr>
            <a:r>
              <a:rPr lang="en-IN" sz="1013" b="0" dirty="0">
                <a:solidFill>
                  <a:srgbClr val="5D5650"/>
                </a:solidFill>
              </a:rPr>
              <a:t>Deployment</a:t>
            </a:r>
          </a:p>
          <a:p>
            <a:pPr algn="l">
              <a:defRPr sz="1013" b="0">
                <a:solidFill>
                  <a:srgbClr val="5D5650"/>
                </a:solidFill>
              </a:defRPr>
            </a:pPr>
            <a:r>
              <a:rPr lang="en-IN" sz="1013" dirty="0">
                <a:solidFill>
                  <a:srgbClr val="5D5650"/>
                </a:solidFill>
              </a:rPr>
              <a:t>Implementation</a:t>
            </a:r>
          </a:p>
          <a:p>
            <a:pPr algn="l">
              <a:defRPr sz="1013" b="0">
                <a:solidFill>
                  <a:srgbClr val="5D5650"/>
                </a:solidFill>
              </a:defRPr>
            </a:pPr>
            <a:r>
              <a:rPr lang="en-IN" sz="1013" b="0" dirty="0">
                <a:solidFill>
                  <a:srgbClr val="5D5650"/>
                </a:solidFill>
              </a:rPr>
              <a:t>(Codex)</a:t>
            </a:r>
            <a:endParaRPr sz="1013" b="0">
              <a:solidFill>
                <a:srgbClr val="5D565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8105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4294967295">
            <a:extLst>
              <a:ext uri="{FF2B5EF4-FFF2-40B4-BE49-F238E27FC236}">
                <a16:creationId xmlns="" xmlns:a16="http://schemas.microsoft.com/office/drawing/2014/main" id="{61ABEB02-E9A1-455E-AB80-CCF69FDBB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rgbClr val="681B22"/>
          </a:solidFill>
          <a:ln w="0">
            <a:solidFill>
              <a:srgbClr val="681B22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D4D5068-ABF0-4C0C-804A-2A3095796173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9144000" cy="47625"/>
          </a:xfrm>
          <a:prstGeom prst="rect">
            <a:avLst/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915BA2ED-1429-497C-928E-93AA3B6EA1C4}"/>
              </a:ext>
            </a:extLst>
          </p:cNvPr>
          <p:cNvSpPr>
            <a:spLocks noGrp="1"/>
          </p:cNvSpPr>
          <p:nvPr/>
        </p:nvSpPr>
        <p:spPr>
          <a:xfrm>
            <a:off x="7905750" y="219075"/>
            <a:ext cx="1238250" cy="4924425"/>
          </a:xfrm>
          <a:prstGeom prst="rect">
            <a:avLst/>
          </a:prstGeom>
          <a:solidFill>
            <a:srgbClr val="EFE7DC"/>
          </a:solidFill>
          <a:ln w="0">
            <a:solidFill>
              <a:srgbClr val="EFE7DC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1959A9B-6048-4437-B053-9C5D008D29D8}"/>
              </a:ext>
            </a:extLst>
          </p:cNvPr>
          <p:cNvSpPr>
            <a:spLocks noGrp="1"/>
          </p:cNvSpPr>
          <p:nvPr/>
        </p:nvSpPr>
        <p:spPr>
          <a:xfrm>
            <a:off x="8420100" y="47625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9A8F84"/>
                </a:solidFill>
              </a:defRPr>
            </a:pPr>
            <a:r>
              <a:rPr sz="975" b="0">
                <a:solidFill>
                  <a:srgbClr val="9A8F84"/>
                </a:solidFill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9F3E669F-7249-4C39-B95D-CC1BEB9954A1}"/>
              </a:ext>
            </a:extLst>
          </p:cNvPr>
          <p:cNvSpPr>
            <a:spLocks noGrp="1"/>
          </p:cNvSpPr>
          <p:nvPr/>
        </p:nvSpPr>
        <p:spPr>
          <a:xfrm>
            <a:off x="428596" y="42861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681B22"/>
                </a:solidFill>
              </a:defRPr>
            </a:pPr>
            <a:r>
              <a:rPr sz="2400" b="1">
                <a:solidFill>
                  <a:srgbClr val="681B22"/>
                </a:solidFill>
              </a:rPr>
              <a:t>Proposed timeline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7D11E30-45E7-48ED-9114-4CE191ED0B0C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5650"/>
                </a:solidFill>
              </a:defRPr>
            </a:pPr>
            <a:r>
              <a:rPr sz="1125" b="0">
                <a:solidFill>
                  <a:srgbClr val="5D5650"/>
                </a:solidFill>
              </a:rPr>
              <a:t>A practical timeline for discussion.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C14A2187-D8D5-4855-A8DB-42E814BD7BB3}"/>
              </a:ext>
            </a:extLst>
          </p:cNvPr>
          <p:cNvSpPr>
            <a:spLocks noGrp="1"/>
          </p:cNvSpPr>
          <p:nvPr/>
        </p:nvSpPr>
        <p:spPr>
          <a:xfrm>
            <a:off x="638175" y="1819275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Tomorrow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20459D75-87C2-4E48-B4E8-4901C92F361D}"/>
              </a:ext>
            </a:extLst>
          </p:cNvPr>
          <p:cNvSpPr>
            <a:spLocks noGrp="1"/>
          </p:cNvSpPr>
          <p:nvPr/>
        </p:nvSpPr>
        <p:spPr>
          <a:xfrm>
            <a:off x="552450" y="2305050"/>
            <a:ext cx="1123950" cy="304800"/>
          </a:xfrm>
          <a:prstGeom prst="roundRect">
            <a:avLst>
              <a:gd name="adj" fmla="val 50000"/>
            </a:avLst>
          </a:prstGeom>
          <a:solidFill>
            <a:srgbClr val="245F8F"/>
          </a:solidFill>
          <a:ln w="0">
            <a:solidFill>
              <a:srgbClr val="245F8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C50C5A3F-8066-42F2-A131-CBCCEA9E5C9A}"/>
              </a:ext>
            </a:extLst>
          </p:cNvPr>
          <p:cNvSpPr>
            <a:spLocks noGrp="1"/>
          </p:cNvSpPr>
          <p:nvPr/>
        </p:nvSpPr>
        <p:spPr>
          <a:xfrm>
            <a:off x="638175" y="2371725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BABC824-1CC0-4394-A56B-D4B5CC414B8A}"/>
              </a:ext>
            </a:extLst>
          </p:cNvPr>
          <p:cNvSpPr>
            <a:spLocks noGrp="1"/>
          </p:cNvSpPr>
          <p:nvPr/>
        </p:nvSpPr>
        <p:spPr>
          <a:xfrm>
            <a:off x="1924050" y="2352675"/>
            <a:ext cx="619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412"/>
                </a:solidFill>
              </a:defRPr>
            </a:pPr>
            <a:r>
              <a:rPr sz="1275" b="0">
                <a:solidFill>
                  <a:srgbClr val="171412"/>
                </a:solidFill>
              </a:rPr>
              <a:t> </a:t>
            </a:r>
            <a:r>
              <a:rPr lang="en-IN" sz="1275" b="0" dirty="0">
                <a:solidFill>
                  <a:srgbClr val="171412"/>
                </a:solidFill>
              </a:rPr>
              <a:t>C</a:t>
            </a:r>
            <a:r>
              <a:rPr sz="1275" b="0">
                <a:solidFill>
                  <a:srgbClr val="171412"/>
                </a:solidFill>
              </a:rPr>
              <a:t>r</a:t>
            </a:r>
            <a:r>
              <a:rPr lang="en-IN" sz="1275" b="0" dirty="0">
                <a:solidFill>
                  <a:srgbClr val="171412"/>
                </a:solidFill>
              </a:rPr>
              <a:t>eating </a:t>
            </a:r>
            <a:r>
              <a:rPr sz="1275" b="0">
                <a:solidFill>
                  <a:srgbClr val="171412"/>
                </a:solidFill>
              </a:rPr>
              <a:t> Figma prototype</a:t>
            </a:r>
            <a:r>
              <a:rPr lang="en-IN" sz="1275" dirty="0">
                <a:solidFill>
                  <a:srgbClr val="171412"/>
                </a:solidFill>
              </a:rPr>
              <a:t> and </a:t>
            </a:r>
            <a:r>
              <a:rPr sz="1275" b="0">
                <a:solidFill>
                  <a:srgbClr val="171412"/>
                </a:solidFill>
              </a:rPr>
              <a:t> finali</a:t>
            </a:r>
            <a:r>
              <a:rPr lang="en-IN" sz="1275" b="0" dirty="0">
                <a:solidFill>
                  <a:srgbClr val="171412"/>
                </a:solidFill>
              </a:rPr>
              <a:t>zing </a:t>
            </a:r>
            <a:r>
              <a:rPr sz="1275" b="0">
                <a:solidFill>
                  <a:srgbClr val="171412"/>
                </a:solidFill>
              </a:rPr>
              <a:t> flow, screens, assessment logic, and backend design.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6AE4F8D1-5015-4D2C-A6E5-ED82EABFB15B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1123950" cy="304800"/>
          </a:xfrm>
          <a:prstGeom prst="roundRect">
            <a:avLst>
              <a:gd name="adj" fmla="val 50000"/>
            </a:avLst>
          </a:prstGeom>
          <a:solidFill>
            <a:srgbClr val="146B68"/>
          </a:solidFill>
          <a:ln w="0">
            <a:solidFill>
              <a:srgbClr val="146B6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DA15CC6F-28A6-4CAE-A96B-694AB2D8930E}"/>
              </a:ext>
            </a:extLst>
          </p:cNvPr>
          <p:cNvSpPr>
            <a:spLocks noGrp="1"/>
          </p:cNvSpPr>
          <p:nvPr/>
        </p:nvSpPr>
        <p:spPr>
          <a:xfrm>
            <a:off x="638175" y="2924175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0CB7B353-FCEA-4A76-A407-8176C286FBF1}"/>
              </a:ext>
            </a:extLst>
          </p:cNvPr>
          <p:cNvSpPr>
            <a:spLocks noGrp="1"/>
          </p:cNvSpPr>
          <p:nvPr/>
        </p:nvSpPr>
        <p:spPr>
          <a:xfrm>
            <a:off x="1924050" y="2905125"/>
            <a:ext cx="619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412"/>
                </a:solidFill>
              </a:defRPr>
            </a:pPr>
            <a:r>
              <a:rPr sz="1275" b="0">
                <a:solidFill>
                  <a:srgbClr val="171412"/>
                </a:solidFill>
              </a:rPr>
              <a:t> </a:t>
            </a:r>
            <a:r>
              <a:rPr lang="en-IN" sz="1275" b="0" dirty="0">
                <a:solidFill>
                  <a:srgbClr val="171412"/>
                </a:solidFill>
              </a:rPr>
              <a:t>S</a:t>
            </a:r>
            <a:r>
              <a:rPr sz="1275" b="0">
                <a:solidFill>
                  <a:srgbClr val="171412"/>
                </a:solidFill>
              </a:rPr>
              <a:t>tart</a:t>
            </a:r>
            <a:r>
              <a:rPr lang="en-IN" sz="1275" b="0" dirty="0" err="1">
                <a:solidFill>
                  <a:srgbClr val="171412"/>
                </a:solidFill>
              </a:rPr>
              <a:t>ing</a:t>
            </a:r>
            <a:r>
              <a:rPr sz="1275" b="0">
                <a:solidFill>
                  <a:srgbClr val="171412"/>
                </a:solidFill>
              </a:rPr>
              <a:t> backend scaffold, data model, auth, assessment engine, and API contracts.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="" xmlns:a16="http://schemas.microsoft.com/office/drawing/2014/main" id="{0696749E-C137-4FF6-B36B-94129BCD8161}"/>
              </a:ext>
            </a:extLst>
          </p:cNvPr>
          <p:cNvSpPr>
            <a:spLocks noGrp="1"/>
          </p:cNvSpPr>
          <p:nvPr/>
        </p:nvSpPr>
        <p:spPr>
          <a:xfrm>
            <a:off x="552450" y="3409950"/>
            <a:ext cx="1123950" cy="304800"/>
          </a:xfrm>
          <a:prstGeom prst="roundRect">
            <a:avLst>
              <a:gd name="adj" fmla="val 50000"/>
            </a:avLst>
          </a:prstGeom>
          <a:solidFill>
            <a:srgbClr val="B37418"/>
          </a:solidFill>
          <a:ln w="0">
            <a:solidFill>
              <a:srgbClr val="B3741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04BB12A3-6495-4063-AA01-A776617DD295}"/>
              </a:ext>
            </a:extLst>
          </p:cNvPr>
          <p:cNvSpPr>
            <a:spLocks noGrp="1"/>
          </p:cNvSpPr>
          <p:nvPr/>
        </p:nvSpPr>
        <p:spPr>
          <a:xfrm>
            <a:off x="638175" y="3476625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Week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FFD02327-9F90-42E9-8EFC-6FBEC2ABF90E}"/>
              </a:ext>
            </a:extLst>
          </p:cNvPr>
          <p:cNvSpPr>
            <a:spLocks noGrp="1"/>
          </p:cNvSpPr>
          <p:nvPr/>
        </p:nvSpPr>
        <p:spPr>
          <a:xfrm>
            <a:off x="1924050" y="3457575"/>
            <a:ext cx="619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412"/>
                </a:solidFill>
              </a:defRPr>
            </a:pPr>
            <a:r>
              <a:rPr sz="1275" b="0">
                <a:solidFill>
                  <a:srgbClr val="171412"/>
                </a:solidFill>
              </a:rPr>
              <a:t>Frontend integration, scoring output, dashboard, AI insight flow, and coach CTA.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="" xmlns:a16="http://schemas.microsoft.com/office/drawing/2014/main" id="{EA27C225-13B1-4CB8-9E58-C7B5DDB46BD8}"/>
              </a:ext>
            </a:extLst>
          </p:cNvPr>
          <p:cNvSpPr>
            <a:spLocks noGrp="1"/>
          </p:cNvSpPr>
          <p:nvPr/>
        </p:nvSpPr>
        <p:spPr>
          <a:xfrm>
            <a:off x="552450" y="3962400"/>
            <a:ext cx="1123950" cy="304800"/>
          </a:xfrm>
          <a:prstGeom prst="roundRect">
            <a:avLst>
              <a:gd name="adj" fmla="val 50000"/>
            </a:avLst>
          </a:prstGeom>
          <a:solidFill>
            <a:srgbClr val="1F7A55"/>
          </a:solidFill>
          <a:ln w="0">
            <a:solidFill>
              <a:srgbClr val="1F7A55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C095FF79-7C3A-469B-9081-42D6DD64407C}"/>
              </a:ext>
            </a:extLst>
          </p:cNvPr>
          <p:cNvSpPr>
            <a:spLocks noGrp="1"/>
          </p:cNvSpPr>
          <p:nvPr/>
        </p:nvSpPr>
        <p:spPr>
          <a:xfrm>
            <a:off x="638175" y="4029075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Week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889BD59B-E0D3-4DF5-AC3F-5A373EB4B106}"/>
              </a:ext>
            </a:extLst>
          </p:cNvPr>
          <p:cNvSpPr>
            <a:spLocks noGrp="1"/>
          </p:cNvSpPr>
          <p:nvPr/>
        </p:nvSpPr>
        <p:spPr>
          <a:xfrm>
            <a:off x="1924050" y="4010025"/>
            <a:ext cx="619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412"/>
                </a:solidFill>
              </a:defRPr>
            </a:pPr>
            <a:r>
              <a:rPr sz="1275" b="0">
                <a:solidFill>
                  <a:srgbClr val="171412"/>
                </a:solidFill>
              </a:rPr>
              <a:t>QA, privacy review, performance polish, pilot build, and publishing readiness.</a:t>
            </a:r>
          </a:p>
        </p:txBody>
      </p:sp>
    </p:spTree>
    <p:extLst>
      <p:ext uri="{BB962C8B-B14F-4D97-AF65-F5344CB8AC3E}">
        <p14:creationId xmlns="" xmlns:p14="http://schemas.microsoft.com/office/powerpoint/2010/main" val="2083889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1018</Words>
  <Application>Walnut Exporter</Application>
  <DocSecurity>0</DocSecurity>
  <PresentationFormat>On-screen Show (16:9)</PresentationFormat>
  <Paragraphs>166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ChatGPT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hp</cp:lastModifiedBy>
  <cp:revision>3</cp:revision>
  <dcterms:created xsi:type="dcterms:W3CDTF">2026-07-07T14:17:40Z</dcterms:created>
  <dcterms:modified xsi:type="dcterms:W3CDTF">2026-07-07T15:34:28Z</dcterms:modified>
</cp:coreProperties>
</file>